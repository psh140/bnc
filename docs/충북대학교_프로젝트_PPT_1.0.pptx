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257" r:id="rId2"/>
    <p:sldId id="308" r:id="rId3"/>
    <p:sldId id="309" r:id="rId4"/>
    <p:sldId id="310" r:id="rId5"/>
    <p:sldId id="311" r:id="rId6"/>
    <p:sldId id="315" r:id="rId7"/>
    <p:sldId id="313" r:id="rId8"/>
    <p:sldId id="314" r:id="rId9"/>
    <p:sldId id="339" r:id="rId10"/>
    <p:sldId id="343" r:id="rId11"/>
    <p:sldId id="316" r:id="rId12"/>
    <p:sldId id="336" r:id="rId13"/>
    <p:sldId id="306" r:id="rId14"/>
    <p:sldId id="328" r:id="rId15"/>
    <p:sldId id="335" r:id="rId16"/>
    <p:sldId id="338" r:id="rId17"/>
    <p:sldId id="341" r:id="rId18"/>
    <p:sldId id="344" r:id="rId19"/>
    <p:sldId id="300" r:id="rId20"/>
    <p:sldId id="291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4877"/>
    <a:srgbClr val="9F0303"/>
    <a:srgbClr val="CC3300"/>
    <a:srgbClr val="D9D9D9"/>
    <a:srgbClr val="0F609D"/>
    <a:srgbClr val="F2EF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 autoAdjust="0"/>
    <p:restoredTop sz="90360" autoAdjust="0"/>
  </p:normalViewPr>
  <p:slideViewPr>
    <p:cSldViewPr snapToGrid="0">
      <p:cViewPr varScale="1">
        <p:scale>
          <a:sx n="103" d="100"/>
          <a:sy n="103" d="100"/>
        </p:scale>
        <p:origin x="16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680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9D5548-08D2-4D30-9228-0C1FED7A2702}" type="datetimeFigureOut">
              <a:rPr lang="ko-KR" altLang="en-US" smtClean="0"/>
              <a:t>2020-12-16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E53B6F-06E6-495E-9FC8-11C6B4F4B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2225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6437ED-067C-404C-BCFB-354CD74D6FC8}" type="datetimeFigureOut">
              <a:rPr lang="ko-KR" altLang="en-US" smtClean="0"/>
              <a:t>2020-12-16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68123-9ADF-4877-8955-AA36DC37E6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866065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D68123-9ADF-4877-8955-AA36DC37E61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023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자본력 부족한 </a:t>
            </a:r>
            <a:r>
              <a:rPr lang="ko-KR" altLang="en-US" dirty="0" err="1"/>
              <a:t>스타트업은</a:t>
            </a:r>
            <a:r>
              <a:rPr lang="ko-KR" altLang="en-US" dirty="0"/>
              <a:t> 시제품을 개발할 때 시설이 미비하고 시제품 개발</a:t>
            </a:r>
            <a:r>
              <a:rPr lang="en-US" altLang="ko-KR" dirty="0"/>
              <a:t>,</a:t>
            </a:r>
            <a:r>
              <a:rPr lang="ko-KR" altLang="en-US" dirty="0"/>
              <a:t>생산에 필요한 정보나 경험이 부족하여 리스크가 발생 따라서 리스크를 예방할 수 있는 해결책이 필요함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D68123-9ADF-4877-8955-AA36DC37E61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462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이러한 배경으로 인해 </a:t>
            </a:r>
            <a:r>
              <a:rPr lang="en-US" altLang="ko-KR" dirty="0"/>
              <a:t>BNC</a:t>
            </a:r>
            <a:r>
              <a:rPr lang="ko-KR" altLang="en-US" dirty="0"/>
              <a:t>에서 국내 기업의 상생발전을 위한 보유기술 매칭 지원 플랫폼을 개발하려고 합니다</a:t>
            </a:r>
            <a:r>
              <a:rPr lang="en-US" altLang="ko-KR" dirty="0"/>
              <a:t>.(</a:t>
            </a:r>
            <a:r>
              <a:rPr lang="ko-KR" altLang="en-US" dirty="0"/>
              <a:t>끝맺음 정리가 필요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D68123-9ADF-4877-8955-AA36DC37E61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2407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 시스템과 기존의 시스템 설명</a:t>
            </a:r>
            <a:r>
              <a:rPr lang="ko-KR" altLang="en-US" baseline="0" dirty="0"/>
              <a:t> 그리고 공통점은 </a:t>
            </a:r>
            <a:r>
              <a:rPr lang="en-US" altLang="ko-KR" baseline="0" dirty="0"/>
              <a:t>~</a:t>
            </a:r>
            <a:r>
              <a:rPr lang="ko-KR" altLang="en-US" baseline="0" dirty="0"/>
              <a:t>인데 저희 시스템만 매칭 및 전자 계약 서비스를 제공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D68123-9ADF-4877-8955-AA36DC37E61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4337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저희는 서비스를 개발에 앞서 이렇게 업무 분담을 하였습니다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D68123-9ADF-4877-8955-AA36DC37E61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61099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저희의 시스템은 사용자와 </a:t>
            </a:r>
            <a:r>
              <a:rPr lang="ko-KR" altLang="en-US" dirty="0" err="1"/>
              <a:t>통합관리저로</a:t>
            </a:r>
            <a:r>
              <a:rPr lang="ko-KR" altLang="en-US" dirty="0"/>
              <a:t> 구분하여 구성하였고</a:t>
            </a:r>
            <a:r>
              <a:rPr lang="en-US" altLang="ko-KR" dirty="0"/>
              <a:t>, </a:t>
            </a:r>
            <a:r>
              <a:rPr lang="ko-KR" altLang="en-US" dirty="0"/>
              <a:t>저희 데이터베이스는 이렇게 설계하였고 더욱 주요 데이터베이스는 뒷장에서 확인하실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D68123-9ADF-4877-8955-AA36DC37E61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37545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주요 테이블만 자세하게 살펴보겠습니다</a:t>
            </a:r>
            <a:r>
              <a:rPr lang="en-US" altLang="ko-KR" dirty="0"/>
              <a:t>. ~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D68123-9ADF-4877-8955-AA36DC37E61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486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D68123-9ADF-4877-8955-AA36DC37E618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1723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D68123-9ADF-4877-8955-AA36DC37E618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68053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현재 시스템을 </a:t>
            </a:r>
            <a:r>
              <a:rPr lang="en-US" altLang="ko-KR" dirty="0"/>
              <a:t>~~~</a:t>
            </a:r>
            <a:r>
              <a:rPr lang="ko-KR" altLang="en-US" dirty="0"/>
              <a:t>이렇게 만들었기 때문에 추후에 </a:t>
            </a:r>
            <a:r>
              <a:rPr lang="en-US" altLang="ko-KR" dirty="0"/>
              <a:t>~~~</a:t>
            </a:r>
            <a:r>
              <a:rPr lang="ko-KR" altLang="en-US" dirty="0"/>
              <a:t>이렇게 확장이 가능하다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D68123-9ADF-4877-8955-AA36DC37E618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73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DEBBC4C3-52FC-436A-A3AE-F6A5F52B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6893" y="6412867"/>
            <a:ext cx="6723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- </a:t>
            </a:r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-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6461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DEBBC4C3-52FC-436A-A3AE-F6A5F52B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6893" y="6412867"/>
            <a:ext cx="6723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- </a:t>
            </a:r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-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7228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DEBBC4C3-52FC-436A-A3AE-F6A5F52B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6893" y="6412867"/>
            <a:ext cx="6723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- </a:t>
            </a:r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-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271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DEBBC4C3-52FC-436A-A3AE-F6A5F52B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6893" y="6412867"/>
            <a:ext cx="6723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- </a:t>
            </a:r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-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8411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5">
            <a:extLst>
              <a:ext uri="{FF2B5EF4-FFF2-40B4-BE49-F238E27FC236}">
                <a16:creationId xmlns:a16="http://schemas.microsoft.com/office/drawing/2014/main" id="{DEBBC4C3-52FC-436A-A3AE-F6A5F52B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6893" y="6412867"/>
            <a:ext cx="6723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- </a:t>
            </a:r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-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154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DEBBC4C3-52FC-436A-A3AE-F6A5F52B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6893" y="6412867"/>
            <a:ext cx="6723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- </a:t>
            </a:r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-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0862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9F3B94-79EC-477D-B625-FF12E870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0062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DEBBC4C3-52FC-436A-A3AE-F6A5F52B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6893" y="6412867"/>
            <a:ext cx="6723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- </a:t>
            </a:r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-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9987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DEBBC4C3-52FC-436A-A3AE-F6A5F52B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6893" y="6412867"/>
            <a:ext cx="6723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- </a:t>
            </a:r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-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9911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DEBBC4C3-52FC-436A-A3AE-F6A5F52B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6893" y="6412867"/>
            <a:ext cx="6723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- </a:t>
            </a:r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-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3173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DEBBC4C3-52FC-436A-A3AE-F6A5F52B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6893" y="6412867"/>
            <a:ext cx="6723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- </a:t>
            </a:r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-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0079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BBC4C3-52FC-436A-A3AE-F6A5F52B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6893" y="6412867"/>
            <a:ext cx="6723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- </a:t>
            </a:r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-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5886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pattFill prst="lgGrid">
            <a:fgClr>
              <a:srgbClr val="0D568D"/>
            </a:fgClr>
            <a:bgClr>
              <a:srgbClr val="0B4877"/>
            </a:bgClr>
          </a:pattFill>
          <a:ln w="25400">
            <a:noFill/>
          </a:ln>
          <a:effectLst>
            <a:outerShdw dist="25400" dir="5400000" algn="t" rotWithShape="0">
              <a:srgbClr val="EF746F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050" i="1" dirty="0">
              <a:solidFill>
                <a:prstClr val="white"/>
              </a:solidFill>
            </a:endParaRP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1735389" y="1162125"/>
            <a:ext cx="8721223" cy="33106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lnSpc>
                <a:spcPct val="150000"/>
              </a:lnSpc>
              <a:defRPr/>
            </a:pPr>
            <a:r>
              <a:rPr lang="ko-KR" altLang="en-US" kern="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충북대학교 공동훈련센터</a:t>
            </a:r>
            <a:endParaRPr lang="en-US" altLang="ko-KR" b="1" i="1" kern="0" dirty="0">
              <a:solidFill>
                <a:prstClr val="white">
                  <a:lumMod val="9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2000" kern="0" dirty="0">
                <a:solidFill>
                  <a:srgbClr val="D9D9D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Java </a:t>
            </a:r>
            <a:r>
              <a:rPr lang="ko-KR" altLang="en-US" sz="2000" kern="0" dirty="0">
                <a:solidFill>
                  <a:srgbClr val="D9D9D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기반 웹</a:t>
            </a:r>
            <a:r>
              <a:rPr lang="en-US" altLang="ko-KR" sz="2000" kern="0" dirty="0">
                <a:solidFill>
                  <a:srgbClr val="D9D9D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000" kern="0" dirty="0">
                <a:solidFill>
                  <a:srgbClr val="D9D9D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앱 개발자 양성 과정</a:t>
            </a:r>
            <a:endParaRPr lang="en-US" altLang="ko-KR" sz="2000" kern="0" dirty="0">
              <a:solidFill>
                <a:srgbClr val="D9D9D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latinLnBrk="0">
              <a:lnSpc>
                <a:spcPct val="150000"/>
              </a:lnSpc>
              <a:defRPr/>
            </a:pPr>
            <a:endParaRPr lang="en-US" altLang="ko-KR" sz="1000" b="1" i="1" kern="0" dirty="0">
              <a:solidFill>
                <a:prstClr val="white">
                  <a:lumMod val="9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ko-KR" altLang="en-US" sz="2800" b="1" i="1" kern="0" dirty="0">
                <a:solidFill>
                  <a:prstClr val="white">
                    <a:lumMod val="9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국내 </a:t>
            </a:r>
            <a:r>
              <a:rPr lang="en-US" altLang="ko-KR" sz="2800" b="1" i="1" kern="0" dirty="0">
                <a:solidFill>
                  <a:prstClr val="white">
                    <a:lumMod val="9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Start-up·</a:t>
            </a:r>
            <a:r>
              <a:rPr lang="ko-KR" altLang="en-US" sz="2800" b="1" i="1" kern="0" dirty="0">
                <a:solidFill>
                  <a:prstClr val="white">
                    <a:lumMod val="9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제조 업체간 기술 매칭  플랫폼</a:t>
            </a:r>
            <a:endParaRPr lang="en-US" altLang="ko-KR" sz="2800" b="1" i="1" kern="0" dirty="0">
              <a:solidFill>
                <a:prstClr val="white">
                  <a:lumMod val="9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latinLnBrk="0">
              <a:lnSpc>
                <a:spcPct val="150000"/>
              </a:lnSpc>
              <a:defRPr/>
            </a:pPr>
            <a:endParaRPr lang="en-US" altLang="ko-KR" sz="1000" b="1" i="1" kern="0" dirty="0">
              <a:solidFill>
                <a:prstClr val="white">
                  <a:lumMod val="9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2000" b="1" i="1" kern="0" dirty="0">
                <a:solidFill>
                  <a:prstClr val="white">
                    <a:lumMod val="9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“BNC”</a:t>
            </a: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600" b="1" i="1" kern="0" dirty="0">
                <a:solidFill>
                  <a:prstClr val="white">
                    <a:lumMod val="9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(Bridge N Contract)</a:t>
            </a:r>
          </a:p>
          <a:p>
            <a:pPr algn="ctr" latinLnBrk="0">
              <a:lnSpc>
                <a:spcPct val="150000"/>
              </a:lnSpc>
              <a:defRPr/>
            </a:pPr>
            <a:endParaRPr lang="en-US" altLang="ko-KR" sz="2000" b="1" kern="0" dirty="0">
              <a:solidFill>
                <a:prstClr val="white">
                  <a:lumMod val="9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1735389" y="5955723"/>
            <a:ext cx="87212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lnSpc>
                <a:spcPct val="150000"/>
              </a:lnSpc>
              <a:defRPr/>
            </a:pPr>
            <a:r>
              <a:rPr lang="en-US" altLang="ko-KR" sz="2000" b="1" kern="0" dirty="0">
                <a:solidFill>
                  <a:prstClr val="white">
                    <a:lumMod val="9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2020. 12. 02.</a:t>
            </a:r>
          </a:p>
        </p:txBody>
      </p:sp>
    </p:spTree>
    <p:extLst>
      <p:ext uri="{BB962C8B-B14F-4D97-AF65-F5344CB8AC3E}">
        <p14:creationId xmlns:p14="http://schemas.microsoft.com/office/powerpoint/2010/main" val="492033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1"/>
            <a:ext cx="12192000" cy="933651"/>
          </a:xfrm>
          <a:prstGeom prst="rect">
            <a:avLst/>
          </a:prstGeom>
          <a:solidFill>
            <a:srgbClr val="0B4877"/>
          </a:solidFill>
          <a:ln w="25400">
            <a:noFill/>
          </a:ln>
          <a:effectLst>
            <a:outerShdw dist="50800" dir="5400000" algn="t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4000" b="1" i="1" kern="0" dirty="0">
                <a:solidFill>
                  <a:prstClr val="white">
                    <a:lumMod val="95000"/>
                  </a:prstClr>
                </a:solidFill>
              </a:rPr>
              <a:t>목차</a:t>
            </a:r>
            <a:endParaRPr lang="en-US" altLang="ko-KR" sz="4000" b="1" i="1" kern="0" dirty="0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2244865" y="985088"/>
            <a:ext cx="16290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3200" b="1" kern="0" dirty="0">
                <a:solidFill>
                  <a:srgbClr val="002060"/>
                </a:solidFill>
              </a:rPr>
              <a:t>1. </a:t>
            </a:r>
            <a:r>
              <a:rPr lang="ko-KR" altLang="en-US" sz="3200" b="1" kern="0" dirty="0">
                <a:solidFill>
                  <a:srgbClr val="002060"/>
                </a:solidFill>
              </a:rPr>
              <a:t>개요</a:t>
            </a:r>
            <a:endParaRPr lang="en-US" altLang="ko-KR" sz="3200" b="1" kern="0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1766679" y="1969997"/>
            <a:ext cx="25853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400" b="1" kern="0" dirty="0">
                <a:solidFill>
                  <a:srgbClr val="002060"/>
                </a:solidFill>
              </a:rPr>
              <a:t>- </a:t>
            </a:r>
            <a:r>
              <a:rPr lang="ko-KR" altLang="en-US" sz="2400" b="1" kern="0" dirty="0">
                <a:solidFill>
                  <a:srgbClr val="002060"/>
                </a:solidFill>
              </a:rPr>
              <a:t>배경 및 필요성</a:t>
            </a:r>
            <a:endParaRPr lang="en-US" altLang="ko-KR" sz="2400" b="1" kern="0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1766679" y="2727602"/>
            <a:ext cx="25853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400" b="1" kern="0" dirty="0">
                <a:solidFill>
                  <a:srgbClr val="002060"/>
                </a:solidFill>
              </a:rPr>
              <a:t>- </a:t>
            </a:r>
            <a:r>
              <a:rPr lang="ko-KR" altLang="en-US" sz="2400" b="1" kern="0" dirty="0">
                <a:solidFill>
                  <a:srgbClr val="002060"/>
                </a:solidFill>
              </a:rPr>
              <a:t>시스템 차별성</a:t>
            </a:r>
            <a:endParaRPr lang="en-US" altLang="ko-KR" sz="2400" b="1" kern="0" dirty="0">
              <a:solidFill>
                <a:srgbClr val="00206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1766679" y="3485208"/>
            <a:ext cx="25853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400" b="1" kern="0" dirty="0">
                <a:solidFill>
                  <a:srgbClr val="002060"/>
                </a:solidFill>
              </a:rPr>
              <a:t>- </a:t>
            </a:r>
            <a:r>
              <a:rPr lang="ko-KR" altLang="en-US" sz="2400" b="1" kern="0" dirty="0">
                <a:solidFill>
                  <a:srgbClr val="002060"/>
                </a:solidFill>
              </a:rPr>
              <a:t>기대 효과</a:t>
            </a:r>
            <a:endParaRPr lang="en-US" altLang="ko-KR" sz="2400" b="1" kern="0" dirty="0">
              <a:solidFill>
                <a:srgbClr val="00206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7874177" y="933546"/>
            <a:ext cx="18780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3200" b="1" kern="0" dirty="0">
                <a:solidFill>
                  <a:srgbClr val="002060"/>
                </a:solidFill>
              </a:rPr>
              <a:t>2. </a:t>
            </a:r>
            <a:r>
              <a:rPr lang="ko-KR" altLang="en-US" sz="3200" b="1" kern="0" dirty="0">
                <a:solidFill>
                  <a:srgbClr val="002060"/>
                </a:solidFill>
              </a:rPr>
              <a:t>설계</a:t>
            </a:r>
            <a:endParaRPr lang="en-US" altLang="ko-KR" sz="3200" b="1" kern="0" dirty="0">
              <a:solidFill>
                <a:srgbClr val="00206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7687876" y="3166810"/>
            <a:ext cx="27374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400" b="1" kern="0" dirty="0">
                <a:solidFill>
                  <a:srgbClr val="002060"/>
                </a:solidFill>
              </a:rPr>
              <a:t>- </a:t>
            </a:r>
            <a:r>
              <a:rPr lang="ko-KR" altLang="en-US" sz="2400" b="1" kern="0" dirty="0">
                <a:solidFill>
                  <a:srgbClr val="002060"/>
                </a:solidFill>
              </a:rPr>
              <a:t>시스템 구성도</a:t>
            </a:r>
            <a:endParaRPr lang="en-US" altLang="ko-KR" sz="2400" b="1" kern="0" dirty="0">
              <a:solidFill>
                <a:srgbClr val="00206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7687876" y="3924416"/>
            <a:ext cx="27374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400" b="1" kern="0" dirty="0">
                <a:solidFill>
                  <a:srgbClr val="002060"/>
                </a:solidFill>
              </a:rPr>
              <a:t>- </a:t>
            </a:r>
            <a:r>
              <a:rPr lang="ko-KR" altLang="en-US" sz="2400" b="1" kern="0" dirty="0">
                <a:solidFill>
                  <a:srgbClr val="002060"/>
                </a:solidFill>
              </a:rPr>
              <a:t>시스템 흐름도</a:t>
            </a:r>
            <a:endParaRPr lang="en-US" altLang="ko-KR" sz="2400" b="1" kern="0" dirty="0">
              <a:solidFill>
                <a:srgbClr val="00206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7687876" y="1728458"/>
            <a:ext cx="2737445" cy="574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400" b="1" kern="0" dirty="0">
                <a:solidFill>
                  <a:srgbClr val="002060"/>
                </a:solidFill>
              </a:rPr>
              <a:t>- </a:t>
            </a:r>
            <a:r>
              <a:rPr lang="ko-KR" altLang="en-US" sz="2400" b="1" kern="0" dirty="0">
                <a:solidFill>
                  <a:srgbClr val="002060"/>
                </a:solidFill>
              </a:rPr>
              <a:t>시스템 관리</a:t>
            </a:r>
            <a:endParaRPr lang="en-US" altLang="ko-KR" sz="2400" b="1" kern="0" dirty="0">
              <a:solidFill>
                <a:srgbClr val="00206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7687876" y="4724047"/>
            <a:ext cx="27374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400" b="1" kern="0" dirty="0">
                <a:solidFill>
                  <a:srgbClr val="002060"/>
                </a:solidFill>
              </a:rPr>
              <a:t>- </a:t>
            </a:r>
            <a:r>
              <a:rPr lang="ko-KR" altLang="en-US" sz="2400" b="1" kern="0" dirty="0">
                <a:solidFill>
                  <a:srgbClr val="002060"/>
                </a:solidFill>
              </a:rPr>
              <a:t>시스템 기능</a:t>
            </a:r>
            <a:endParaRPr lang="en-US" altLang="ko-KR" sz="2400" b="1" kern="0" dirty="0">
              <a:solidFill>
                <a:srgbClr val="00206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7687876" y="5478199"/>
            <a:ext cx="2737445" cy="574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400" b="1" kern="0" dirty="0">
                <a:solidFill>
                  <a:srgbClr val="002060"/>
                </a:solidFill>
              </a:rPr>
              <a:t>- </a:t>
            </a:r>
            <a:r>
              <a:rPr lang="ko-KR" altLang="en-US" sz="2400" b="1" kern="0" dirty="0">
                <a:solidFill>
                  <a:srgbClr val="002060"/>
                </a:solidFill>
              </a:rPr>
              <a:t>시스템 확장성</a:t>
            </a:r>
            <a:endParaRPr lang="en-US" altLang="ko-KR" sz="2400" b="1" kern="0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2451C3-DAA5-4336-843F-B5030EDEE101}"/>
              </a:ext>
            </a:extLst>
          </p:cNvPr>
          <p:cNvSpPr txBox="1"/>
          <p:nvPr/>
        </p:nvSpPr>
        <p:spPr>
          <a:xfrm>
            <a:off x="7687876" y="2447634"/>
            <a:ext cx="2737445" cy="574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400" b="1" kern="0" dirty="0">
                <a:solidFill>
                  <a:srgbClr val="002060"/>
                </a:solidFill>
              </a:rPr>
              <a:t>- </a:t>
            </a:r>
            <a:r>
              <a:rPr lang="ko-KR" altLang="en-US" sz="2400" b="1" kern="0" dirty="0">
                <a:solidFill>
                  <a:srgbClr val="002060"/>
                </a:solidFill>
              </a:rPr>
              <a:t>일정 관리</a:t>
            </a:r>
            <a:endParaRPr lang="en-US" altLang="ko-KR" sz="2400" b="1" kern="0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400A90-EA1C-47FD-9E0D-6098CA91F424}"/>
              </a:ext>
            </a:extLst>
          </p:cNvPr>
          <p:cNvSpPr txBox="1"/>
          <p:nvPr/>
        </p:nvSpPr>
        <p:spPr>
          <a:xfrm>
            <a:off x="7687876" y="6160986"/>
            <a:ext cx="2737445" cy="574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400" b="1" kern="0" dirty="0">
                <a:solidFill>
                  <a:srgbClr val="002060"/>
                </a:solidFill>
              </a:rPr>
              <a:t>- </a:t>
            </a:r>
            <a:r>
              <a:rPr lang="ko-KR" altLang="en-US" sz="2400" b="1" kern="0" dirty="0">
                <a:solidFill>
                  <a:srgbClr val="002060"/>
                </a:solidFill>
              </a:rPr>
              <a:t>구현 상세</a:t>
            </a:r>
            <a:endParaRPr lang="en-US" altLang="ko-KR" sz="2400" b="1" kern="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2151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2962175"/>
            <a:ext cx="12192000" cy="933651"/>
          </a:xfrm>
          <a:prstGeom prst="rect">
            <a:avLst/>
          </a:prstGeom>
          <a:solidFill>
            <a:srgbClr val="0B4877"/>
          </a:solidFill>
          <a:ln w="25400">
            <a:noFill/>
          </a:ln>
          <a:effectLst>
            <a:outerShdw dist="50800" dir="5400000" algn="t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4000" b="1" i="1" kern="0" dirty="0">
                <a:solidFill>
                  <a:prstClr val="white">
                    <a:lumMod val="95000"/>
                  </a:prstClr>
                </a:solidFill>
              </a:rPr>
              <a:t>1. </a:t>
            </a:r>
            <a:r>
              <a:rPr lang="ko-KR" altLang="en-US" sz="4000" b="1" i="1" kern="0" dirty="0">
                <a:solidFill>
                  <a:prstClr val="white">
                    <a:lumMod val="95000"/>
                  </a:prstClr>
                </a:solidFill>
              </a:rPr>
              <a:t>개요</a:t>
            </a:r>
            <a:endParaRPr lang="en-US" altLang="ko-KR" sz="4000" b="1" i="1" kern="0" dirty="0">
              <a:solidFill>
                <a:prstClr val="white">
                  <a:lumMod val="9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208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1"/>
            <a:ext cx="12192000" cy="933651"/>
          </a:xfrm>
          <a:prstGeom prst="rect">
            <a:avLst/>
          </a:prstGeom>
          <a:solidFill>
            <a:srgbClr val="0B4877"/>
          </a:solidFill>
          <a:ln w="25400">
            <a:noFill/>
          </a:ln>
          <a:effectLst>
            <a:outerShdw dist="50800" dir="5400000" algn="t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4000" b="1" i="1" kern="0" dirty="0">
                <a:solidFill>
                  <a:prstClr val="white">
                    <a:lumMod val="95000"/>
                  </a:prstClr>
                </a:solidFill>
              </a:rPr>
              <a:t>배경 및 필요성</a:t>
            </a:r>
            <a:endParaRPr lang="en-US" altLang="ko-KR" sz="4000" b="1" i="1" kern="0" dirty="0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2485345" y="1709141"/>
            <a:ext cx="72213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000" b="1" kern="0" dirty="0">
                <a:solidFill>
                  <a:srgbClr val="002060"/>
                </a:solidFill>
              </a:rPr>
              <a:t>- </a:t>
            </a:r>
            <a:r>
              <a:rPr lang="ko-KR" altLang="en-US" sz="2000" b="1" kern="0" dirty="0">
                <a:solidFill>
                  <a:srgbClr val="002060"/>
                </a:solidFill>
              </a:rPr>
              <a:t>자본력이 부족한 </a:t>
            </a:r>
            <a:r>
              <a:rPr lang="ko-KR" altLang="en-US" sz="2000" b="1" kern="0" dirty="0" err="1">
                <a:solidFill>
                  <a:srgbClr val="002060"/>
                </a:solidFill>
              </a:rPr>
              <a:t>스타트업</a:t>
            </a:r>
            <a:r>
              <a:rPr lang="en-US" altLang="ko-KR" sz="2000" b="1" kern="0" dirty="0">
                <a:solidFill>
                  <a:srgbClr val="002060"/>
                </a:solidFill>
              </a:rPr>
              <a:t>, </a:t>
            </a:r>
            <a:r>
              <a:rPr lang="ko-KR" altLang="en-US" sz="2000" b="1" kern="0" dirty="0">
                <a:solidFill>
                  <a:srgbClr val="002060"/>
                </a:solidFill>
              </a:rPr>
              <a:t>중소기업의 경우 시제품 개발 및 </a:t>
            </a:r>
            <a:endParaRPr lang="en-US" altLang="ko-KR" sz="2000" b="1" kern="0" dirty="0">
              <a:solidFill>
                <a:srgbClr val="002060"/>
              </a:solidFill>
            </a:endParaRPr>
          </a:p>
          <a:p>
            <a:pPr latinLnBrk="0">
              <a:lnSpc>
                <a:spcPct val="150000"/>
              </a:lnSpc>
              <a:defRPr/>
            </a:pPr>
            <a:r>
              <a:rPr lang="ko-KR" altLang="en-US" sz="2000" b="1" kern="0" dirty="0">
                <a:solidFill>
                  <a:srgbClr val="002060"/>
                </a:solidFill>
              </a:rPr>
              <a:t>  양산에 필요한 제조 공간과 장비 등 시설이 미비함</a:t>
            </a:r>
            <a:endParaRPr lang="en-US" altLang="ko-KR" sz="2000" b="1" kern="0" dirty="0">
              <a:solidFill>
                <a:srgbClr val="00206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2854622" y="3020902"/>
            <a:ext cx="64827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000" b="1" kern="0" dirty="0">
                <a:solidFill>
                  <a:srgbClr val="002060"/>
                </a:solidFill>
              </a:rPr>
              <a:t>- </a:t>
            </a:r>
            <a:r>
              <a:rPr lang="ko-KR" altLang="en-US" sz="2000" b="1" kern="0" dirty="0">
                <a:solidFill>
                  <a:srgbClr val="002060"/>
                </a:solidFill>
              </a:rPr>
              <a:t>시제품 개발</a:t>
            </a:r>
            <a:r>
              <a:rPr lang="en-US" altLang="ko-KR" sz="2000" b="1" kern="0" dirty="0">
                <a:solidFill>
                  <a:srgbClr val="002060"/>
                </a:solidFill>
              </a:rPr>
              <a:t>·</a:t>
            </a:r>
            <a:r>
              <a:rPr lang="ko-KR" altLang="en-US" sz="2000" b="1" kern="0" dirty="0">
                <a:solidFill>
                  <a:srgbClr val="002060"/>
                </a:solidFill>
              </a:rPr>
              <a:t>생산에 필요한 정보</a:t>
            </a:r>
            <a:r>
              <a:rPr lang="en-US" altLang="ko-KR" sz="2000" b="1" kern="0" dirty="0">
                <a:solidFill>
                  <a:srgbClr val="002060"/>
                </a:solidFill>
              </a:rPr>
              <a:t>, </a:t>
            </a:r>
            <a:r>
              <a:rPr lang="ko-KR" altLang="en-US" sz="2000" b="1" kern="0" dirty="0">
                <a:solidFill>
                  <a:srgbClr val="002060"/>
                </a:solidFill>
              </a:rPr>
              <a:t>경험 부재로 인해 </a:t>
            </a:r>
            <a:endParaRPr lang="en-US" altLang="ko-KR" sz="2000" b="1" kern="0" dirty="0">
              <a:solidFill>
                <a:srgbClr val="002060"/>
              </a:solidFill>
            </a:endParaRPr>
          </a:p>
          <a:p>
            <a:pPr latinLnBrk="0">
              <a:lnSpc>
                <a:spcPct val="150000"/>
              </a:lnSpc>
              <a:defRPr/>
            </a:pPr>
            <a:r>
              <a:rPr lang="ko-KR" altLang="en-US" sz="2000" b="1" kern="0" dirty="0">
                <a:solidFill>
                  <a:srgbClr val="002060"/>
                </a:solidFill>
              </a:rPr>
              <a:t>  독자적으로 제품 개발이 어려워 사업 리스크 발생</a:t>
            </a:r>
            <a:endParaRPr lang="en-US" altLang="ko-KR" sz="2000" b="1" kern="0" dirty="0">
              <a:solidFill>
                <a:srgbClr val="00206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2091524" y="4774733"/>
            <a:ext cx="80089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2400" b="1" kern="0" dirty="0">
                <a:solidFill>
                  <a:srgbClr val="002060"/>
                </a:solidFill>
              </a:rPr>
              <a:t>=</a:t>
            </a:r>
            <a:r>
              <a:rPr lang="ko-KR" altLang="en-US" sz="2400" b="1" kern="0" dirty="0">
                <a:solidFill>
                  <a:srgbClr val="002060"/>
                </a:solidFill>
              </a:rPr>
              <a:t> 시제품 개발</a:t>
            </a:r>
            <a:r>
              <a:rPr lang="en-US" altLang="ko-KR" sz="2400" b="1" kern="0" dirty="0">
                <a:solidFill>
                  <a:srgbClr val="002060"/>
                </a:solidFill>
              </a:rPr>
              <a:t>·</a:t>
            </a:r>
            <a:r>
              <a:rPr lang="ko-KR" altLang="en-US" sz="2400" b="1" kern="0" dirty="0">
                <a:solidFill>
                  <a:srgbClr val="002060"/>
                </a:solidFill>
              </a:rPr>
              <a:t>생산에 필요한 정보</a:t>
            </a:r>
            <a:r>
              <a:rPr lang="en-US" altLang="ko-KR" sz="2400" b="1" kern="0" dirty="0">
                <a:solidFill>
                  <a:srgbClr val="002060"/>
                </a:solidFill>
              </a:rPr>
              <a:t>, </a:t>
            </a:r>
            <a:r>
              <a:rPr lang="ko-KR" altLang="en-US" sz="2400" b="1" kern="0" dirty="0">
                <a:solidFill>
                  <a:srgbClr val="002060"/>
                </a:solidFill>
              </a:rPr>
              <a:t>경험 부재로 인한 </a:t>
            </a:r>
            <a:endParaRPr lang="en-US" altLang="ko-KR" sz="2400" b="1" kern="0" dirty="0">
              <a:solidFill>
                <a:srgbClr val="002060"/>
              </a:solidFill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ko-KR" altLang="en-US" sz="2400" b="1" kern="0" dirty="0">
                <a:solidFill>
                  <a:srgbClr val="002060"/>
                </a:solidFill>
              </a:rPr>
              <a:t>리스크를 예방할 수 있는 해결책 필요</a:t>
            </a:r>
            <a:endParaRPr lang="en-US" altLang="ko-KR" sz="2400" b="1" kern="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630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1"/>
            <a:ext cx="12192000" cy="933651"/>
          </a:xfrm>
          <a:prstGeom prst="rect">
            <a:avLst/>
          </a:prstGeom>
          <a:solidFill>
            <a:srgbClr val="0B4877"/>
          </a:solidFill>
          <a:ln w="25400">
            <a:noFill/>
          </a:ln>
          <a:effectLst>
            <a:outerShdw dist="50800" dir="5400000" algn="t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4000" b="1" i="1" kern="0" dirty="0">
                <a:solidFill>
                  <a:prstClr val="white">
                    <a:lumMod val="95000"/>
                  </a:prstClr>
                </a:solidFill>
              </a:rPr>
              <a:t>배경 및 필요성</a:t>
            </a:r>
            <a:endParaRPr lang="en-US" altLang="ko-KR" sz="4000" b="1" i="1" kern="0" dirty="0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1221532" y="5342812"/>
            <a:ext cx="97988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3200" b="1" kern="0" dirty="0">
                <a:solidFill>
                  <a:srgbClr val="002060"/>
                </a:solidFill>
              </a:rPr>
              <a:t>= </a:t>
            </a:r>
            <a:r>
              <a:rPr lang="ko-KR" altLang="en-US" sz="3200" b="1" kern="0" dirty="0">
                <a:solidFill>
                  <a:srgbClr val="002060"/>
                </a:solidFill>
              </a:rPr>
              <a:t>국내 기업의 상생발전을 위한 보유기술 매칭 지원</a:t>
            </a:r>
            <a:endParaRPr lang="en-US" altLang="ko-KR" sz="3200" b="1" kern="0" dirty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570" y="2388464"/>
            <a:ext cx="1763272" cy="1763272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8906" y="2386610"/>
            <a:ext cx="1724564" cy="172456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2400387" y="1809524"/>
            <a:ext cx="1225908" cy="494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2000" b="1" kern="0" dirty="0">
                <a:solidFill>
                  <a:srgbClr val="002060"/>
                </a:solidFill>
              </a:rPr>
              <a:t>수요측</a:t>
            </a:r>
            <a:endParaRPr lang="en-US" altLang="ko-KR" sz="2000" b="1" kern="0" dirty="0">
              <a:solidFill>
                <a:srgbClr val="00206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8342922" y="1809524"/>
            <a:ext cx="1378569" cy="494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2000" b="1" kern="0" dirty="0">
                <a:solidFill>
                  <a:srgbClr val="002060"/>
                </a:solidFill>
              </a:rPr>
              <a:t>공급측</a:t>
            </a:r>
            <a:endParaRPr lang="en-US" altLang="ko-KR" sz="2000" b="1" kern="0" dirty="0">
              <a:solidFill>
                <a:srgbClr val="002060"/>
              </a:solidFill>
            </a:endParaRPr>
          </a:p>
        </p:txBody>
      </p:sp>
      <p:cxnSp>
        <p:nvCxnSpPr>
          <p:cNvPr id="20" name="직선 화살표 연결선 19"/>
          <p:cNvCxnSpPr/>
          <p:nvPr/>
        </p:nvCxnSpPr>
        <p:spPr>
          <a:xfrm>
            <a:off x="3869356" y="3383213"/>
            <a:ext cx="481263" cy="0"/>
          </a:xfrm>
          <a:prstGeom prst="straightConnector1">
            <a:avLst/>
          </a:prstGeom>
          <a:ln w="28575">
            <a:solidFill>
              <a:srgbClr val="0B48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 flipH="1">
            <a:off x="7361722" y="3383213"/>
            <a:ext cx="492493" cy="0"/>
          </a:xfrm>
          <a:prstGeom prst="straightConnector1">
            <a:avLst/>
          </a:prstGeom>
          <a:ln w="28575">
            <a:solidFill>
              <a:srgbClr val="0B48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2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851" y="2445578"/>
            <a:ext cx="1665596" cy="166559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5295324" y="1866445"/>
            <a:ext cx="1378569" cy="494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2000" b="1" kern="0" dirty="0">
                <a:solidFill>
                  <a:srgbClr val="002060"/>
                </a:solidFill>
              </a:rPr>
              <a:t>플랫폼</a:t>
            </a:r>
            <a:endParaRPr lang="en-US" altLang="ko-KR" sz="2000" b="1" kern="0" dirty="0">
              <a:solidFill>
                <a:srgbClr val="00206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2400387" y="4280453"/>
            <a:ext cx="1225908" cy="494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2000" b="1" kern="0" dirty="0">
                <a:solidFill>
                  <a:srgbClr val="002060"/>
                </a:solidFill>
              </a:rPr>
              <a:t>아이디어</a:t>
            </a:r>
            <a:endParaRPr lang="en-US" altLang="ko-KR" sz="2000" b="1" kern="0" dirty="0">
              <a:solidFill>
                <a:srgbClr val="00206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8342922" y="4280453"/>
            <a:ext cx="1378569" cy="494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2000" b="1" kern="0" dirty="0">
                <a:solidFill>
                  <a:srgbClr val="002060"/>
                </a:solidFill>
              </a:rPr>
              <a:t>보유기술</a:t>
            </a:r>
            <a:endParaRPr lang="en-US" altLang="ko-KR" sz="2000" b="1" kern="0" dirty="0">
              <a:solidFill>
                <a:srgbClr val="00206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5322433" y="4280453"/>
            <a:ext cx="1378569" cy="494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2000" b="1" kern="0" dirty="0" err="1">
                <a:solidFill>
                  <a:srgbClr val="002060"/>
                </a:solidFill>
              </a:rPr>
              <a:t>매칭지원</a:t>
            </a:r>
            <a:endParaRPr lang="en-US" altLang="ko-KR" sz="2000" b="1" kern="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046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1"/>
            <a:ext cx="12192000" cy="933651"/>
          </a:xfrm>
          <a:prstGeom prst="rect">
            <a:avLst/>
          </a:prstGeom>
          <a:solidFill>
            <a:srgbClr val="0B4877"/>
          </a:solidFill>
          <a:ln w="25400">
            <a:noFill/>
          </a:ln>
          <a:effectLst>
            <a:outerShdw dist="50800" dir="5400000" algn="t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4000" b="1" i="1" kern="0" dirty="0">
                <a:solidFill>
                  <a:prstClr val="white">
                    <a:lumMod val="95000"/>
                  </a:prstClr>
                </a:solidFill>
              </a:rPr>
              <a:t>시스템 차별성</a:t>
            </a:r>
            <a:endParaRPr lang="en-US" altLang="ko-KR" sz="4000" b="1" i="1" kern="0" dirty="0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118900" y="5242372"/>
            <a:ext cx="613824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200" b="1" dirty="0">
                <a:solidFill>
                  <a:srgbClr val="0B4877"/>
                </a:solidFill>
              </a:rPr>
              <a:t>매칭 및 전자 계약 서비스 제공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508534"/>
              </p:ext>
            </p:extLst>
          </p:nvPr>
        </p:nvGraphicFramePr>
        <p:xfrm>
          <a:off x="478972" y="2335806"/>
          <a:ext cx="11234057" cy="2519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5197">
                  <a:extLst>
                    <a:ext uri="{9D8B030D-6E8A-4147-A177-3AD203B41FA5}">
                      <a16:colId xmlns:a16="http://schemas.microsoft.com/office/drawing/2014/main" val="4070270187"/>
                    </a:ext>
                  </a:extLst>
                </a:gridCol>
                <a:gridCol w="2564715">
                  <a:extLst>
                    <a:ext uri="{9D8B030D-6E8A-4147-A177-3AD203B41FA5}">
                      <a16:colId xmlns:a16="http://schemas.microsoft.com/office/drawing/2014/main" val="3791710067"/>
                    </a:ext>
                  </a:extLst>
                </a:gridCol>
                <a:gridCol w="2564715">
                  <a:extLst>
                    <a:ext uri="{9D8B030D-6E8A-4147-A177-3AD203B41FA5}">
                      <a16:colId xmlns:a16="http://schemas.microsoft.com/office/drawing/2014/main" val="3988414735"/>
                    </a:ext>
                  </a:extLst>
                </a:gridCol>
                <a:gridCol w="2564715">
                  <a:extLst>
                    <a:ext uri="{9D8B030D-6E8A-4147-A177-3AD203B41FA5}">
                      <a16:colId xmlns:a16="http://schemas.microsoft.com/office/drawing/2014/main" val="2461398328"/>
                    </a:ext>
                  </a:extLst>
                </a:gridCol>
                <a:gridCol w="2564715">
                  <a:extLst>
                    <a:ext uri="{9D8B030D-6E8A-4147-A177-3AD203B41FA5}">
                      <a16:colId xmlns:a16="http://schemas.microsoft.com/office/drawing/2014/main" val="987697506"/>
                    </a:ext>
                  </a:extLst>
                </a:gridCol>
              </a:tblGrid>
              <a:tr h="487453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>
                          <a:solidFill>
                            <a:srgbClr val="0B4877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BNC</a:t>
                      </a:r>
                      <a:endParaRPr lang="ko-KR" altLang="en-US" dirty="0">
                        <a:solidFill>
                          <a:srgbClr val="0B4877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CREATABLE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MAKE-FIX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BOLT&amp;NUT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629472"/>
                  </a:ext>
                </a:extLst>
              </a:tr>
              <a:tr h="14455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5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기업간의 </a:t>
                      </a:r>
                      <a:r>
                        <a:rPr lang="ko-KR" altLang="en-US" sz="15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매칭 서비스</a:t>
                      </a:r>
                      <a:endParaRPr lang="en-US" altLang="ko-KR" sz="15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5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견적</a:t>
                      </a:r>
                      <a:r>
                        <a:rPr lang="en-US" altLang="ko-KR" sz="15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5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제작</a:t>
                      </a:r>
                      <a:r>
                        <a:rPr lang="en-US" altLang="ko-KR" sz="15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5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컨설팅</a:t>
                      </a:r>
                      <a:endParaRPr lang="en-US" altLang="ko-KR" sz="15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5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확장된 업종</a:t>
                      </a:r>
                      <a:endParaRPr lang="en-US" altLang="ko-KR" sz="15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500" dirty="0">
                          <a:latin typeface="맑은 고딕" panose="020B0503020000020004" pitchFamily="50" charset="-127"/>
                          <a:ea typeface="+mn-ea"/>
                        </a:rPr>
                        <a:t>제조업체 정보 제공</a:t>
                      </a:r>
                      <a:endParaRPr lang="en-US" altLang="ko-KR" sz="150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5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- 3D </a:t>
                      </a:r>
                      <a:r>
                        <a:rPr lang="ko-KR" altLang="en-US" sz="15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프린팅</a:t>
                      </a:r>
                      <a:endParaRPr lang="en-US" altLang="ko-KR" sz="15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5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(SLA </a:t>
                      </a:r>
                      <a:r>
                        <a:rPr lang="ko-KR" altLang="en-US" sz="15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방식 레진 재료만 가능</a:t>
                      </a:r>
                      <a:r>
                        <a:rPr lang="en-US" altLang="ko-KR" sz="15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5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CNC </a:t>
                      </a:r>
                      <a:r>
                        <a:rPr lang="ko-KR" altLang="en-US" sz="15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비교견적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5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5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도면 제작 의뢰</a:t>
                      </a:r>
                      <a:endParaRPr lang="en-US" altLang="ko-KR" sz="15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5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5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디자인</a:t>
                      </a:r>
                      <a:r>
                        <a:rPr lang="en-US" altLang="ko-KR" sz="15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5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 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5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5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가견적</a:t>
                      </a:r>
                      <a:r>
                        <a:rPr lang="ko-KR" altLang="en-US" sz="15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서비스</a:t>
                      </a:r>
                      <a:endParaRPr lang="en-US" altLang="ko-KR" sz="15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5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en-US" altLang="ko-KR" sz="15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5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</a:t>
                      </a:r>
                      <a:r>
                        <a:rPr lang="en-US" altLang="ko-KR" sz="15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&amp;</a:t>
                      </a:r>
                      <a:r>
                        <a:rPr lang="ko-KR" altLang="en-US" sz="15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 제조 패키지</a:t>
                      </a:r>
                      <a:endParaRPr lang="en-US" altLang="ko-KR" sz="15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5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5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 수배 패키지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2235288"/>
                  </a:ext>
                </a:extLst>
              </a:tr>
              <a:tr h="58624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공통점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              </a:t>
                      </a:r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 검색 기능 </a:t>
                      </a:r>
                      <a:r>
                        <a:rPr lang="en-US" altLang="ko-KR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견적 및 제작 서비스</a:t>
                      </a:r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5765964"/>
                  </a:ext>
                </a:extLst>
              </a:tr>
            </a:tbl>
          </a:graphicData>
        </a:graphic>
      </p:graphicFrame>
      <p:sp>
        <p:nvSpPr>
          <p:cNvPr id="6" name="오른쪽 화살표 5"/>
          <p:cNvSpPr/>
          <p:nvPr/>
        </p:nvSpPr>
        <p:spPr>
          <a:xfrm>
            <a:off x="2369589" y="5392598"/>
            <a:ext cx="647931" cy="560514"/>
          </a:xfrm>
          <a:prstGeom prst="rightArrow">
            <a:avLst/>
          </a:prstGeom>
          <a:solidFill>
            <a:srgbClr val="0B487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6329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1"/>
            <a:ext cx="12192000" cy="933651"/>
          </a:xfrm>
          <a:prstGeom prst="rect">
            <a:avLst/>
          </a:prstGeom>
          <a:solidFill>
            <a:srgbClr val="0B4877"/>
          </a:solidFill>
          <a:ln w="25400">
            <a:noFill/>
          </a:ln>
          <a:effectLst>
            <a:outerShdw dist="50800" dir="5400000" algn="t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4000" b="1" i="1" kern="0" dirty="0">
                <a:solidFill>
                  <a:prstClr val="white">
                    <a:lumMod val="95000"/>
                  </a:prstClr>
                </a:solidFill>
              </a:rPr>
              <a:t>기대 효과</a:t>
            </a:r>
            <a:endParaRPr lang="en-US" altLang="ko-KR" sz="4000" b="1" i="1" kern="0" dirty="0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283029" y="1382570"/>
            <a:ext cx="11625943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2800" b="1" kern="0" dirty="0">
                <a:solidFill>
                  <a:srgbClr val="002060"/>
                </a:solidFill>
              </a:rPr>
              <a:t>1. </a:t>
            </a:r>
            <a:r>
              <a:rPr lang="ko-KR" altLang="en-US" sz="2800" b="1" kern="0" dirty="0" err="1">
                <a:solidFill>
                  <a:srgbClr val="002060"/>
                </a:solidFill>
              </a:rPr>
              <a:t>스타트업의</a:t>
            </a:r>
            <a:r>
              <a:rPr lang="ko-KR" altLang="en-US" sz="2800" b="1" kern="0" dirty="0">
                <a:solidFill>
                  <a:srgbClr val="002060"/>
                </a:solidFill>
              </a:rPr>
              <a:t> </a:t>
            </a:r>
            <a:r>
              <a:rPr lang="ko-KR" altLang="en-US" sz="2800" b="1" kern="0" dirty="0" err="1">
                <a:solidFill>
                  <a:srgbClr val="002060"/>
                </a:solidFill>
              </a:rPr>
              <a:t>조사비용</a:t>
            </a:r>
            <a:r>
              <a:rPr lang="ko-KR" altLang="en-US" sz="2800" b="1" kern="0" dirty="0">
                <a:solidFill>
                  <a:srgbClr val="002060"/>
                </a:solidFill>
              </a:rPr>
              <a:t> 절감</a:t>
            </a:r>
            <a:endParaRPr lang="en-US" altLang="ko-KR" sz="2800" b="1" kern="0" dirty="0">
              <a:solidFill>
                <a:srgbClr val="002060"/>
              </a:solidFill>
            </a:endParaRPr>
          </a:p>
          <a:p>
            <a:pPr algn="ctr" latinLnBrk="0">
              <a:lnSpc>
                <a:spcPct val="150000"/>
              </a:lnSpc>
              <a:defRPr/>
            </a:pPr>
            <a:endParaRPr lang="en-US" altLang="ko-KR" sz="2800" b="1" kern="0" dirty="0">
              <a:solidFill>
                <a:srgbClr val="002060"/>
              </a:solidFill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2800" b="1" kern="0" dirty="0">
                <a:solidFill>
                  <a:srgbClr val="002060"/>
                </a:solidFill>
              </a:rPr>
              <a:t>2. </a:t>
            </a:r>
            <a:r>
              <a:rPr lang="ko-KR" altLang="en-US" sz="2800" b="1" kern="0" dirty="0">
                <a:solidFill>
                  <a:srgbClr val="002060"/>
                </a:solidFill>
              </a:rPr>
              <a:t>시설투자 문제 해소</a:t>
            </a:r>
            <a:r>
              <a:rPr lang="en-US" altLang="ko-KR" sz="2800" b="1" kern="0" dirty="0">
                <a:solidFill>
                  <a:srgbClr val="002060"/>
                </a:solidFill>
              </a:rPr>
              <a:t>, </a:t>
            </a:r>
            <a:r>
              <a:rPr lang="ko-KR" altLang="en-US" sz="2800" b="1" kern="0" dirty="0">
                <a:solidFill>
                  <a:srgbClr val="002060"/>
                </a:solidFill>
              </a:rPr>
              <a:t>제조기업 매출 향상</a:t>
            </a:r>
            <a:endParaRPr lang="en-US" altLang="ko-KR" sz="2800" b="1" kern="0" dirty="0">
              <a:solidFill>
                <a:srgbClr val="002060"/>
              </a:solidFill>
            </a:endParaRPr>
          </a:p>
          <a:p>
            <a:pPr algn="ctr" latinLnBrk="0">
              <a:lnSpc>
                <a:spcPct val="150000"/>
              </a:lnSpc>
              <a:defRPr/>
            </a:pPr>
            <a:endParaRPr lang="en-US" altLang="ko-KR" sz="2800" b="1" kern="0" dirty="0">
              <a:solidFill>
                <a:srgbClr val="002060"/>
              </a:solidFill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2800" b="1" kern="0" dirty="0">
                <a:solidFill>
                  <a:srgbClr val="002060"/>
                </a:solidFill>
              </a:rPr>
              <a:t>3. </a:t>
            </a:r>
            <a:r>
              <a:rPr lang="ko-KR" altLang="en-US" sz="2800" b="1" kern="0" dirty="0" err="1">
                <a:solidFill>
                  <a:srgbClr val="002060"/>
                </a:solidFill>
              </a:rPr>
              <a:t>스타트업</a:t>
            </a:r>
            <a:r>
              <a:rPr lang="en-US" altLang="ko-KR" sz="2800" b="1" kern="0" dirty="0">
                <a:solidFill>
                  <a:srgbClr val="002060"/>
                </a:solidFill>
              </a:rPr>
              <a:t>-</a:t>
            </a:r>
            <a:r>
              <a:rPr lang="ko-KR" altLang="en-US" sz="2800" b="1" kern="0" dirty="0">
                <a:solidFill>
                  <a:srgbClr val="002060"/>
                </a:solidFill>
              </a:rPr>
              <a:t>제조기업 간 상생</a:t>
            </a:r>
            <a:endParaRPr lang="en-US" altLang="ko-KR" sz="2800" b="1" kern="0" dirty="0">
              <a:solidFill>
                <a:srgbClr val="002060"/>
              </a:solidFill>
            </a:endParaRPr>
          </a:p>
          <a:p>
            <a:pPr algn="ctr" latinLnBrk="0">
              <a:lnSpc>
                <a:spcPct val="150000"/>
              </a:lnSpc>
              <a:defRPr/>
            </a:pPr>
            <a:endParaRPr lang="en-US" altLang="ko-KR" sz="2800" b="1" kern="0" dirty="0">
              <a:solidFill>
                <a:srgbClr val="002060"/>
              </a:solidFill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2800" b="1" kern="0" dirty="0">
                <a:solidFill>
                  <a:srgbClr val="002060"/>
                </a:solidFill>
              </a:rPr>
              <a:t>4. </a:t>
            </a:r>
            <a:r>
              <a:rPr lang="ko-KR" altLang="en-US" sz="2800" b="1" kern="0" dirty="0">
                <a:solidFill>
                  <a:srgbClr val="002060"/>
                </a:solidFill>
              </a:rPr>
              <a:t>비즈니스매칭 기회 제공을 통한 기업들의 사업 활성화에 기여</a:t>
            </a:r>
            <a:endParaRPr lang="en-US" altLang="ko-KR" sz="2800" b="1" kern="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5178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2962175"/>
            <a:ext cx="12192000" cy="933651"/>
          </a:xfrm>
          <a:prstGeom prst="rect">
            <a:avLst/>
          </a:prstGeom>
          <a:solidFill>
            <a:srgbClr val="0B4877"/>
          </a:solidFill>
          <a:ln w="25400">
            <a:noFill/>
          </a:ln>
          <a:effectLst>
            <a:outerShdw dist="50800" dir="5400000" algn="t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4000" b="1" i="1" kern="0" dirty="0">
                <a:solidFill>
                  <a:prstClr val="white">
                    <a:lumMod val="95000"/>
                  </a:prstClr>
                </a:solidFill>
              </a:rPr>
              <a:t>2. </a:t>
            </a:r>
            <a:r>
              <a:rPr lang="ko-KR" altLang="en-US" sz="4000" b="1" i="1" kern="0" dirty="0">
                <a:solidFill>
                  <a:prstClr val="white">
                    <a:lumMod val="95000"/>
                  </a:prstClr>
                </a:solidFill>
              </a:rPr>
              <a:t>설계</a:t>
            </a:r>
            <a:endParaRPr lang="en-US" altLang="ko-KR" sz="4000" b="1" i="1" kern="0" dirty="0">
              <a:solidFill>
                <a:prstClr val="white">
                  <a:lumMod val="9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273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1"/>
            <a:ext cx="12192000" cy="933651"/>
          </a:xfrm>
          <a:prstGeom prst="rect">
            <a:avLst/>
          </a:prstGeom>
          <a:solidFill>
            <a:srgbClr val="0B4877"/>
          </a:solidFill>
          <a:ln w="25400">
            <a:noFill/>
          </a:ln>
          <a:effectLst>
            <a:outerShdw dist="50800" dir="5400000" algn="t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4000" b="1" i="1" kern="0" dirty="0">
                <a:solidFill>
                  <a:prstClr val="white">
                    <a:lumMod val="95000"/>
                  </a:prstClr>
                </a:solidFill>
              </a:rPr>
              <a:t>시스템 관리</a:t>
            </a:r>
            <a:endParaRPr lang="en-US" altLang="ko-KR" sz="4000" b="1" i="1" kern="0" dirty="0">
              <a:solidFill>
                <a:prstClr val="white">
                  <a:lumMod val="95000"/>
                </a:prstClr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394BFDE5-157C-4A0F-8060-B0FFA07B86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174794"/>
              </p:ext>
            </p:extLst>
          </p:nvPr>
        </p:nvGraphicFramePr>
        <p:xfrm>
          <a:off x="326453" y="2946321"/>
          <a:ext cx="11539094" cy="2126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6504">
                  <a:extLst>
                    <a:ext uri="{9D8B030D-6E8A-4147-A177-3AD203B41FA5}">
                      <a16:colId xmlns:a16="http://schemas.microsoft.com/office/drawing/2014/main" val="4070270187"/>
                    </a:ext>
                  </a:extLst>
                </a:gridCol>
                <a:gridCol w="2142518">
                  <a:extLst>
                    <a:ext uri="{9D8B030D-6E8A-4147-A177-3AD203B41FA5}">
                      <a16:colId xmlns:a16="http://schemas.microsoft.com/office/drawing/2014/main" val="1942377766"/>
                    </a:ext>
                  </a:extLst>
                </a:gridCol>
                <a:gridCol w="2142518">
                  <a:extLst>
                    <a:ext uri="{9D8B030D-6E8A-4147-A177-3AD203B41FA5}">
                      <a16:colId xmlns:a16="http://schemas.microsoft.com/office/drawing/2014/main" val="3791710067"/>
                    </a:ext>
                  </a:extLst>
                </a:gridCol>
                <a:gridCol w="2142518">
                  <a:extLst>
                    <a:ext uri="{9D8B030D-6E8A-4147-A177-3AD203B41FA5}">
                      <a16:colId xmlns:a16="http://schemas.microsoft.com/office/drawing/2014/main" val="3988414735"/>
                    </a:ext>
                  </a:extLst>
                </a:gridCol>
                <a:gridCol w="2142518">
                  <a:extLst>
                    <a:ext uri="{9D8B030D-6E8A-4147-A177-3AD203B41FA5}">
                      <a16:colId xmlns:a16="http://schemas.microsoft.com/office/drawing/2014/main" val="2461398328"/>
                    </a:ext>
                  </a:extLst>
                </a:gridCol>
                <a:gridCol w="2142518">
                  <a:extLst>
                    <a:ext uri="{9D8B030D-6E8A-4147-A177-3AD203B41FA5}">
                      <a16:colId xmlns:a16="http://schemas.microsoft.com/office/drawing/2014/main" val="987697506"/>
                    </a:ext>
                  </a:extLst>
                </a:gridCol>
              </a:tblGrid>
              <a:tr h="536258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Language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Framework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Database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IDE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WAS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629472"/>
                  </a:ext>
                </a:extLst>
              </a:tr>
              <a:tr h="1590274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5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Java 1.11</a:t>
                      </a:r>
                    </a:p>
                    <a:p>
                      <a:pPr marL="0" indent="0" algn="ctr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5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Html5</a:t>
                      </a:r>
                    </a:p>
                    <a:p>
                      <a:pPr marL="0" indent="0" algn="ctr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5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CSS3</a:t>
                      </a:r>
                    </a:p>
                    <a:p>
                      <a:pPr marL="0" indent="0" algn="ctr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5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Javascript</a:t>
                      </a:r>
                      <a:endParaRPr lang="en-US" altLang="ko-KR" sz="15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5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Spring 3.9.14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5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Oracle 11g</a:t>
                      </a:r>
                      <a:endParaRPr lang="ko-KR" altLang="en-US" sz="15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Eclipse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SqlDeveloper</a:t>
                      </a:r>
                      <a:endParaRPr lang="en-US" altLang="ko-KR" sz="15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VS Code</a:t>
                      </a:r>
                      <a:endParaRPr lang="ko-KR" altLang="en-US" sz="15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Tomcat 9.0</a:t>
                      </a:r>
                      <a:endParaRPr lang="ko-KR" altLang="en-US" sz="15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2235288"/>
                  </a:ext>
                </a:extLst>
              </a:tr>
            </a:tbl>
          </a:graphicData>
        </a:graphic>
      </p:graphicFrame>
      <p:sp>
        <p:nvSpPr>
          <p:cNvPr id="16" name="직사각형 15">
            <a:extLst>
              <a:ext uri="{FF2B5EF4-FFF2-40B4-BE49-F238E27FC236}">
                <a16:creationId xmlns:a16="http://schemas.microsoft.com/office/drawing/2014/main" id="{AB57B786-230B-4455-A86B-C0B6293DB8CF}"/>
              </a:ext>
            </a:extLst>
          </p:cNvPr>
          <p:cNvSpPr/>
          <p:nvPr/>
        </p:nvSpPr>
        <p:spPr>
          <a:xfrm>
            <a:off x="5478780" y="2282696"/>
            <a:ext cx="1234440" cy="377845"/>
          </a:xfrm>
          <a:prstGeom prst="rect">
            <a:avLst/>
          </a:prstGeom>
          <a:solidFill>
            <a:srgbClr val="0B4877"/>
          </a:solidFill>
          <a:ln w="25400">
            <a:noFill/>
          </a:ln>
          <a:effectLst>
            <a:outerShdw dist="50800" dir="5400000" algn="t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2000" b="1" kern="0" dirty="0">
                <a:solidFill>
                  <a:prstClr val="white">
                    <a:lumMod val="95000"/>
                  </a:prstClr>
                </a:solidFill>
              </a:rPr>
              <a:t>개발환경</a:t>
            </a:r>
            <a:endParaRPr lang="en-US" altLang="ko-KR" sz="2000" b="1" kern="0" dirty="0">
              <a:solidFill>
                <a:prstClr val="white">
                  <a:lumMod val="9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543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E0A86A47-D472-491B-9FE7-F28CB4B0B00C}"/>
              </a:ext>
            </a:extLst>
          </p:cNvPr>
          <p:cNvSpPr/>
          <p:nvPr/>
        </p:nvSpPr>
        <p:spPr>
          <a:xfrm>
            <a:off x="0" y="-1"/>
            <a:ext cx="12192000" cy="933651"/>
          </a:xfrm>
          <a:prstGeom prst="rect">
            <a:avLst/>
          </a:prstGeom>
          <a:solidFill>
            <a:srgbClr val="0B4877"/>
          </a:solidFill>
          <a:ln w="25400">
            <a:noFill/>
          </a:ln>
          <a:effectLst>
            <a:outerShdw dist="50800" dir="5400000" algn="t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4000" b="1" i="1" kern="0" dirty="0">
                <a:solidFill>
                  <a:prstClr val="white">
                    <a:lumMod val="95000"/>
                  </a:prstClr>
                </a:solidFill>
              </a:rPr>
              <a:t>일정 관리</a:t>
            </a:r>
            <a:endParaRPr lang="en-US" altLang="ko-KR" sz="4000" b="1" i="1" kern="0" dirty="0">
              <a:solidFill>
                <a:prstClr val="white">
                  <a:lumMod val="95000"/>
                </a:prst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B36AEBF-112D-446E-8FDD-4131CABE4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912" y="1045617"/>
            <a:ext cx="8190176" cy="581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928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직사각형 90"/>
          <p:cNvSpPr/>
          <p:nvPr/>
        </p:nvSpPr>
        <p:spPr>
          <a:xfrm>
            <a:off x="6408877" y="4344957"/>
            <a:ext cx="5689401" cy="19269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69" name="직사각형 68"/>
          <p:cNvSpPr/>
          <p:nvPr/>
        </p:nvSpPr>
        <p:spPr>
          <a:xfrm>
            <a:off x="6413699" y="1873589"/>
            <a:ext cx="5689401" cy="19129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/>
          <p:cNvSpPr/>
          <p:nvPr/>
        </p:nvSpPr>
        <p:spPr>
          <a:xfrm>
            <a:off x="2047814" y="1883493"/>
            <a:ext cx="4227942" cy="19129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-1"/>
            <a:ext cx="12192000" cy="933651"/>
          </a:xfrm>
          <a:prstGeom prst="rect">
            <a:avLst/>
          </a:prstGeom>
          <a:solidFill>
            <a:srgbClr val="0B4877"/>
          </a:solidFill>
          <a:ln w="25400">
            <a:noFill/>
          </a:ln>
          <a:effectLst>
            <a:outerShdw dist="50800" dir="5400000" algn="t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4000" b="1" i="1" kern="0" dirty="0">
                <a:solidFill>
                  <a:prstClr val="white">
                    <a:lumMod val="95000"/>
                  </a:prstClr>
                </a:solidFill>
              </a:rPr>
              <a:t>시스템 구성도</a:t>
            </a:r>
            <a:endParaRPr lang="en-US" altLang="ko-KR" sz="4000" b="1" i="1" kern="0" dirty="0">
              <a:solidFill>
                <a:prstClr val="white">
                  <a:lumMod val="95000"/>
                </a:prstClr>
              </a:solidFill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106151" y="1877375"/>
            <a:ext cx="899028" cy="788841"/>
            <a:chOff x="1061597" y="1985774"/>
            <a:chExt cx="899028" cy="746672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668A711-A4E2-4B1E-8852-AD9349C2BCCB}"/>
                </a:ext>
              </a:extLst>
            </p:cNvPr>
            <p:cNvSpPr txBox="1"/>
            <p:nvPr/>
          </p:nvSpPr>
          <p:spPr>
            <a:xfrm>
              <a:off x="1061597" y="2458255"/>
              <a:ext cx="899028" cy="2741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latinLnBrk="0">
                <a:lnSpc>
                  <a:spcPct val="150000"/>
                </a:lnSpc>
                <a:defRPr/>
              </a:pPr>
              <a:r>
                <a:rPr lang="ko-KR" altLang="en-US" sz="1400" b="1" kern="0" dirty="0" err="1">
                  <a:solidFill>
                    <a:srgbClr val="002060"/>
                  </a:solidFill>
                </a:rPr>
                <a:t>스타트업</a:t>
              </a:r>
              <a:endParaRPr lang="en-US" altLang="ko-KR" sz="1400" b="1" kern="0" dirty="0">
                <a:solidFill>
                  <a:srgbClr val="002060"/>
                </a:solidFill>
              </a:endParaRPr>
            </a:p>
          </p:txBody>
        </p:sp>
        <p:pic>
          <p:nvPicPr>
            <p:cNvPr id="49" name="그림 4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8243" y="1985774"/>
              <a:ext cx="585735" cy="585735"/>
            </a:xfrm>
            <a:prstGeom prst="rect">
              <a:avLst/>
            </a:prstGeom>
          </p:spPr>
        </p:pic>
      </p:grpSp>
      <p:grpSp>
        <p:nvGrpSpPr>
          <p:cNvPr id="50" name="그룹 49"/>
          <p:cNvGrpSpPr/>
          <p:nvPr/>
        </p:nvGrpSpPr>
        <p:grpSpPr>
          <a:xfrm>
            <a:off x="134515" y="3669351"/>
            <a:ext cx="899028" cy="874435"/>
            <a:chOff x="1061597" y="3188552"/>
            <a:chExt cx="899028" cy="827690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668A711-A4E2-4B1E-8852-AD9349C2BCCB}"/>
                </a:ext>
              </a:extLst>
            </p:cNvPr>
            <p:cNvSpPr txBox="1"/>
            <p:nvPr/>
          </p:nvSpPr>
          <p:spPr>
            <a:xfrm>
              <a:off x="1061597" y="3642357"/>
              <a:ext cx="899028" cy="3738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latinLnBrk="0">
                <a:lnSpc>
                  <a:spcPct val="150000"/>
                </a:lnSpc>
                <a:defRPr/>
              </a:pPr>
              <a:r>
                <a:rPr lang="ko-KR" altLang="en-US" sz="1400" b="1" kern="0" dirty="0">
                  <a:solidFill>
                    <a:srgbClr val="002060"/>
                  </a:solidFill>
                </a:rPr>
                <a:t>제조업체</a:t>
              </a:r>
              <a:endParaRPr lang="en-US" altLang="ko-KR" sz="1400" b="1" kern="0" dirty="0">
                <a:solidFill>
                  <a:srgbClr val="002060"/>
                </a:solidFill>
              </a:endParaRPr>
            </a:p>
          </p:txBody>
        </p:sp>
        <p:pic>
          <p:nvPicPr>
            <p:cNvPr id="56" name="그림 5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4395" y="3188552"/>
              <a:ext cx="585735" cy="585735"/>
            </a:xfrm>
            <a:prstGeom prst="rect">
              <a:avLst/>
            </a:prstGeom>
          </p:spPr>
        </p:pic>
      </p:grpSp>
      <p:grpSp>
        <p:nvGrpSpPr>
          <p:cNvPr id="61" name="그룹 60"/>
          <p:cNvGrpSpPr/>
          <p:nvPr/>
        </p:nvGrpSpPr>
        <p:grpSpPr>
          <a:xfrm>
            <a:off x="124749" y="5809845"/>
            <a:ext cx="899028" cy="945789"/>
            <a:chOff x="1061597" y="5489216"/>
            <a:chExt cx="899028" cy="895230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668A711-A4E2-4B1E-8852-AD9349C2BCCB}"/>
                </a:ext>
              </a:extLst>
            </p:cNvPr>
            <p:cNvSpPr txBox="1"/>
            <p:nvPr/>
          </p:nvSpPr>
          <p:spPr>
            <a:xfrm>
              <a:off x="1061597" y="6010561"/>
              <a:ext cx="899028" cy="3738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latinLnBrk="0">
                <a:lnSpc>
                  <a:spcPct val="150000"/>
                </a:lnSpc>
                <a:defRPr/>
              </a:pPr>
              <a:r>
                <a:rPr lang="ko-KR" altLang="en-US" sz="1400" b="1" kern="0" dirty="0">
                  <a:solidFill>
                    <a:srgbClr val="002060"/>
                  </a:solidFill>
                </a:rPr>
                <a:t>관리자</a:t>
              </a:r>
              <a:endParaRPr lang="en-US" altLang="ko-KR" sz="1400" b="1" kern="0" dirty="0">
                <a:solidFill>
                  <a:srgbClr val="002060"/>
                </a:solidFill>
              </a:endParaRPr>
            </a:p>
          </p:txBody>
        </p:sp>
        <p:pic>
          <p:nvPicPr>
            <p:cNvPr id="72" name="그림 7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8242" y="5489216"/>
              <a:ext cx="585735" cy="585735"/>
            </a:xfrm>
            <a:prstGeom prst="rect">
              <a:avLst/>
            </a:prstGeom>
          </p:spPr>
        </p:pic>
      </p:grpSp>
      <p:sp>
        <p:nvSpPr>
          <p:cNvPr id="119" name="직사각형 118"/>
          <p:cNvSpPr/>
          <p:nvPr/>
        </p:nvSpPr>
        <p:spPr>
          <a:xfrm>
            <a:off x="93320" y="998474"/>
            <a:ext cx="1749286" cy="304205"/>
          </a:xfrm>
          <a:prstGeom prst="rect">
            <a:avLst/>
          </a:prstGeom>
          <a:solidFill>
            <a:srgbClr val="0B487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사용자</a:t>
            </a:r>
          </a:p>
        </p:txBody>
      </p:sp>
      <p:sp>
        <p:nvSpPr>
          <p:cNvPr id="120" name="직사각형 119"/>
          <p:cNvSpPr/>
          <p:nvPr/>
        </p:nvSpPr>
        <p:spPr>
          <a:xfrm>
            <a:off x="2047813" y="997078"/>
            <a:ext cx="10055287" cy="295769"/>
          </a:xfrm>
          <a:prstGeom prst="rect">
            <a:avLst/>
          </a:prstGeom>
          <a:solidFill>
            <a:srgbClr val="0B487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국내 </a:t>
            </a:r>
            <a:r>
              <a:rPr lang="en-US" altLang="ko-KR" sz="1600" dirty="0"/>
              <a:t>Start-Up · </a:t>
            </a:r>
            <a:r>
              <a:rPr lang="ko-KR" altLang="en-US" sz="1600" dirty="0"/>
              <a:t>제조 업체간 매칭 플랫폼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2057586" y="6532637"/>
            <a:ext cx="10045514" cy="276550"/>
          </a:xfrm>
          <a:prstGeom prst="rect">
            <a:avLst/>
          </a:prstGeom>
          <a:solidFill>
            <a:srgbClr val="0B487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통합관리 시스템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2047813" y="1409460"/>
            <a:ext cx="4227942" cy="3379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(</a:t>
            </a:r>
            <a:r>
              <a:rPr lang="ko-KR" altLang="en-US" dirty="0"/>
              <a:t>회원</a:t>
            </a:r>
            <a:r>
              <a:rPr lang="en-US" altLang="ko-KR" dirty="0"/>
              <a:t>)</a:t>
            </a:r>
            <a:r>
              <a:rPr lang="ko-KR" altLang="en-US" dirty="0"/>
              <a:t>로그인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44617" y="2090986"/>
            <a:ext cx="1720007" cy="1316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/>
              <a:t>기업등록</a:t>
            </a:r>
            <a:r>
              <a:rPr lang="en-US" altLang="ko-KR" sz="1400" dirty="0"/>
              <a:t>/</a:t>
            </a:r>
            <a:r>
              <a:rPr lang="ko-KR" altLang="en-US" sz="1400" dirty="0"/>
              <a:t>수정</a:t>
            </a:r>
            <a:endParaRPr lang="en-US" altLang="ko-KR" sz="14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/>
              <a:t>서명관리</a:t>
            </a:r>
            <a:endParaRPr lang="en-US" altLang="ko-KR" sz="14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회원탈퇴</a:t>
            </a:r>
            <a:endParaRPr lang="en-US" altLang="ko-KR" sz="1400" dirty="0"/>
          </a:p>
        </p:txBody>
      </p:sp>
      <p:sp>
        <p:nvSpPr>
          <p:cNvPr id="57" name="직사각형 56"/>
          <p:cNvSpPr/>
          <p:nvPr/>
        </p:nvSpPr>
        <p:spPr>
          <a:xfrm>
            <a:off x="2055128" y="3908024"/>
            <a:ext cx="4227942" cy="3379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메뉴</a:t>
            </a:r>
          </a:p>
        </p:txBody>
      </p:sp>
      <p:sp>
        <p:nvSpPr>
          <p:cNvPr id="59" name="직사각형 58"/>
          <p:cNvSpPr/>
          <p:nvPr/>
        </p:nvSpPr>
        <p:spPr>
          <a:xfrm>
            <a:off x="2059482" y="4344957"/>
            <a:ext cx="4215624" cy="19269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chemeClr val="tx1"/>
                </a:solidFill>
              </a:rPr>
              <a:t>로그인 </a:t>
            </a:r>
            <a:r>
              <a:rPr lang="en-US" altLang="ko-KR" sz="1500" dirty="0">
                <a:solidFill>
                  <a:schemeClr val="tx1"/>
                </a:solidFill>
              </a:rPr>
              <a:t>/ </a:t>
            </a:r>
            <a:r>
              <a:rPr lang="ko-KR" altLang="en-US" sz="1500" dirty="0" err="1">
                <a:solidFill>
                  <a:schemeClr val="tx1"/>
                </a:solidFill>
              </a:rPr>
              <a:t>마이페이지</a:t>
            </a:r>
            <a:r>
              <a:rPr lang="en-US" altLang="ko-KR" sz="1500" dirty="0">
                <a:solidFill>
                  <a:schemeClr val="tx1"/>
                </a:solidFill>
              </a:rPr>
              <a:t> / </a:t>
            </a:r>
            <a:r>
              <a:rPr lang="ko-KR" altLang="en-US" sz="1500" dirty="0">
                <a:solidFill>
                  <a:schemeClr val="tx1"/>
                </a:solidFill>
              </a:rPr>
              <a:t>기업정보</a:t>
            </a:r>
            <a:r>
              <a:rPr lang="en-US" altLang="ko-KR" sz="1500" dirty="0">
                <a:solidFill>
                  <a:schemeClr val="tx1"/>
                </a:solidFill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ko-KR" altLang="en-US" sz="1500" dirty="0">
                <a:solidFill>
                  <a:schemeClr val="tx1"/>
                </a:solidFill>
              </a:rPr>
              <a:t>프로젝트</a:t>
            </a:r>
            <a:r>
              <a:rPr lang="en-US" altLang="ko-KR" sz="1500" dirty="0">
                <a:solidFill>
                  <a:schemeClr val="tx1"/>
                </a:solidFill>
              </a:rPr>
              <a:t> / </a:t>
            </a:r>
            <a:r>
              <a:rPr lang="ko-KR" altLang="en-US" sz="1500" dirty="0">
                <a:solidFill>
                  <a:schemeClr val="tx1"/>
                </a:solidFill>
              </a:rPr>
              <a:t>공지사항</a:t>
            </a:r>
            <a:r>
              <a:rPr lang="en-US" altLang="ko-KR" sz="1500" dirty="0">
                <a:solidFill>
                  <a:schemeClr val="tx1"/>
                </a:solidFill>
              </a:rPr>
              <a:t> / </a:t>
            </a:r>
            <a:r>
              <a:rPr lang="ko-KR" altLang="en-US" sz="1500" dirty="0">
                <a:solidFill>
                  <a:schemeClr val="tx1"/>
                </a:solidFill>
              </a:rPr>
              <a:t>이용약관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6403883" y="1409460"/>
            <a:ext cx="5699218" cy="3379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매칭 </a:t>
            </a:r>
            <a:r>
              <a:rPr lang="en-US" altLang="ko-KR" dirty="0"/>
              <a:t>&amp; </a:t>
            </a:r>
            <a:r>
              <a:rPr lang="ko-KR" altLang="en-US" dirty="0"/>
              <a:t>계약 관리</a:t>
            </a:r>
          </a:p>
        </p:txBody>
      </p:sp>
      <p:sp>
        <p:nvSpPr>
          <p:cNvPr id="71" name="직사각형 70"/>
          <p:cNvSpPr/>
          <p:nvPr/>
        </p:nvSpPr>
        <p:spPr>
          <a:xfrm>
            <a:off x="6615488" y="2035810"/>
            <a:ext cx="1598775" cy="3390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기업소개</a:t>
            </a:r>
          </a:p>
        </p:txBody>
      </p:sp>
      <p:sp>
        <p:nvSpPr>
          <p:cNvPr id="73" name="직사각형 72"/>
          <p:cNvSpPr/>
          <p:nvPr/>
        </p:nvSpPr>
        <p:spPr>
          <a:xfrm>
            <a:off x="8474672" y="2044610"/>
            <a:ext cx="1648264" cy="3189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프로젝트소개</a:t>
            </a:r>
          </a:p>
        </p:txBody>
      </p:sp>
      <p:sp>
        <p:nvSpPr>
          <p:cNvPr id="75" name="직사각형 74"/>
          <p:cNvSpPr/>
          <p:nvPr/>
        </p:nvSpPr>
        <p:spPr>
          <a:xfrm>
            <a:off x="10383345" y="2044610"/>
            <a:ext cx="1557030" cy="3070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매칭기업선택</a:t>
            </a:r>
          </a:p>
        </p:txBody>
      </p:sp>
      <p:sp>
        <p:nvSpPr>
          <p:cNvPr id="76" name="직사각형 75"/>
          <p:cNvSpPr/>
          <p:nvPr/>
        </p:nvSpPr>
        <p:spPr>
          <a:xfrm>
            <a:off x="6606487" y="2667073"/>
            <a:ext cx="1598775" cy="3390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금액 선택</a:t>
            </a:r>
          </a:p>
        </p:txBody>
      </p:sp>
      <p:sp>
        <p:nvSpPr>
          <p:cNvPr id="77" name="직사각형 76"/>
          <p:cNvSpPr/>
          <p:nvPr/>
        </p:nvSpPr>
        <p:spPr>
          <a:xfrm>
            <a:off x="8474672" y="2683955"/>
            <a:ext cx="1648264" cy="3319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담당자 연결</a:t>
            </a:r>
          </a:p>
        </p:txBody>
      </p:sp>
      <p:sp>
        <p:nvSpPr>
          <p:cNvPr id="78" name="직사각형 77"/>
          <p:cNvSpPr/>
          <p:nvPr/>
        </p:nvSpPr>
        <p:spPr>
          <a:xfrm>
            <a:off x="10392346" y="2692616"/>
            <a:ext cx="1557030" cy="3070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전자 계약</a:t>
            </a:r>
          </a:p>
        </p:txBody>
      </p:sp>
      <p:sp>
        <p:nvSpPr>
          <p:cNvPr id="79" name="직사각형 78"/>
          <p:cNvSpPr/>
          <p:nvPr/>
        </p:nvSpPr>
        <p:spPr>
          <a:xfrm>
            <a:off x="6606487" y="3257968"/>
            <a:ext cx="1598775" cy="3390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서명 관리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8474672" y="3257968"/>
            <a:ext cx="1648264" cy="3319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계약서 서식</a:t>
            </a:r>
          </a:p>
        </p:txBody>
      </p:sp>
      <p:sp>
        <p:nvSpPr>
          <p:cNvPr id="81" name="직사각형 80"/>
          <p:cNvSpPr/>
          <p:nvPr/>
        </p:nvSpPr>
        <p:spPr>
          <a:xfrm>
            <a:off x="6415555" y="3911386"/>
            <a:ext cx="5699218" cy="3379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Database</a:t>
            </a:r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6874521" y="482991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업종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163424" y="4837781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회원</a:t>
            </a:r>
          </a:p>
        </p:txBody>
      </p:sp>
      <p:sp>
        <p:nvSpPr>
          <p:cNvPr id="96" name="순서도: 자기 디스크 95"/>
          <p:cNvSpPr/>
          <p:nvPr/>
        </p:nvSpPr>
        <p:spPr>
          <a:xfrm>
            <a:off x="7998064" y="5424831"/>
            <a:ext cx="1123939" cy="733864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9275668" y="4837781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기업정보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882049" y="575003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서명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391246" y="575003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프로젝트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121451" y="573973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계약서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674798" y="4826446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메일 양식</a:t>
            </a:r>
          </a:p>
        </p:txBody>
      </p:sp>
      <p:sp>
        <p:nvSpPr>
          <p:cNvPr id="110" name="순서도: 자기 디스크 109"/>
          <p:cNvSpPr/>
          <p:nvPr/>
        </p:nvSpPr>
        <p:spPr>
          <a:xfrm>
            <a:off x="10621973" y="5424831"/>
            <a:ext cx="1360488" cy="733864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10591926" y="5750039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계약서 양식</a:t>
            </a:r>
          </a:p>
        </p:txBody>
      </p:sp>
      <p:sp>
        <p:nvSpPr>
          <p:cNvPr id="112" name="직사각형 111"/>
          <p:cNvSpPr/>
          <p:nvPr/>
        </p:nvSpPr>
        <p:spPr>
          <a:xfrm>
            <a:off x="759161" y="3608573"/>
            <a:ext cx="12350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ko-KR" altLang="en-US" sz="1400" dirty="0"/>
              <a:t>기술력 보유</a:t>
            </a:r>
          </a:p>
        </p:txBody>
      </p:sp>
      <p:sp>
        <p:nvSpPr>
          <p:cNvPr id="114" name="직사각형 113"/>
          <p:cNvSpPr/>
          <p:nvPr/>
        </p:nvSpPr>
        <p:spPr>
          <a:xfrm>
            <a:off x="661976" y="1886760"/>
            <a:ext cx="1353389" cy="428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ko-KR" altLang="en-US" sz="1300" dirty="0"/>
              <a:t>아이디어 보유</a:t>
            </a:r>
          </a:p>
        </p:txBody>
      </p:sp>
      <p:cxnSp>
        <p:nvCxnSpPr>
          <p:cNvPr id="26" name="직선 연결선 25"/>
          <p:cNvCxnSpPr/>
          <p:nvPr/>
        </p:nvCxnSpPr>
        <p:spPr>
          <a:xfrm>
            <a:off x="1849431" y="997078"/>
            <a:ext cx="0" cy="58121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직사각형 114"/>
          <p:cNvSpPr/>
          <p:nvPr/>
        </p:nvSpPr>
        <p:spPr>
          <a:xfrm>
            <a:off x="699217" y="5791763"/>
            <a:ext cx="1235074" cy="428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300" dirty="0"/>
              <a:t>  통합 관리자</a:t>
            </a:r>
          </a:p>
        </p:txBody>
      </p:sp>
      <p:sp>
        <p:nvSpPr>
          <p:cNvPr id="65" name="순서도: 자기 디스크 64"/>
          <p:cNvSpPr/>
          <p:nvPr/>
        </p:nvSpPr>
        <p:spPr>
          <a:xfrm>
            <a:off x="6643246" y="4518111"/>
            <a:ext cx="1123939" cy="733864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4" name="순서도: 자기 디스크 73"/>
          <p:cNvSpPr/>
          <p:nvPr/>
        </p:nvSpPr>
        <p:spPr>
          <a:xfrm>
            <a:off x="7998065" y="4518111"/>
            <a:ext cx="1123939" cy="733864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3" name="순서도: 자기 디스크 82"/>
          <p:cNvSpPr/>
          <p:nvPr/>
        </p:nvSpPr>
        <p:spPr>
          <a:xfrm>
            <a:off x="10707704" y="4518111"/>
            <a:ext cx="1123939" cy="733864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5" name="순서도: 자기 디스크 84"/>
          <p:cNvSpPr/>
          <p:nvPr/>
        </p:nvSpPr>
        <p:spPr>
          <a:xfrm>
            <a:off x="6644477" y="5424831"/>
            <a:ext cx="1123939" cy="733864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6" name="순서도: 자기 디스크 85"/>
          <p:cNvSpPr/>
          <p:nvPr/>
        </p:nvSpPr>
        <p:spPr>
          <a:xfrm>
            <a:off x="9362376" y="5424831"/>
            <a:ext cx="1123939" cy="733864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7" name="순서도: 자기 디스크 86"/>
          <p:cNvSpPr/>
          <p:nvPr/>
        </p:nvSpPr>
        <p:spPr>
          <a:xfrm>
            <a:off x="9352884" y="4518111"/>
            <a:ext cx="1123939" cy="733864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2227887" y="3138889"/>
            <a:ext cx="1357712" cy="4572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chemeClr val="tx1"/>
                </a:solidFill>
              </a:rPr>
              <a:t>마이페이지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2227887" y="2084932"/>
            <a:ext cx="1357712" cy="4572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회원가입</a:t>
            </a:r>
          </a:p>
        </p:txBody>
      </p:sp>
      <p:sp>
        <p:nvSpPr>
          <p:cNvPr id="89" name="직사각형 88"/>
          <p:cNvSpPr/>
          <p:nvPr/>
        </p:nvSpPr>
        <p:spPr>
          <a:xfrm>
            <a:off x="2227887" y="2611883"/>
            <a:ext cx="1357712" cy="4572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로그인</a:t>
            </a:r>
          </a:p>
        </p:txBody>
      </p:sp>
      <p:cxnSp>
        <p:nvCxnSpPr>
          <p:cNvPr id="25" name="꺾인 연결선 24"/>
          <p:cNvCxnSpPr/>
          <p:nvPr/>
        </p:nvCxnSpPr>
        <p:spPr>
          <a:xfrm flipV="1">
            <a:off x="3585599" y="2758440"/>
            <a:ext cx="659018" cy="579120"/>
          </a:xfrm>
          <a:prstGeom prst="bentConnector3">
            <a:avLst/>
          </a:prstGeom>
          <a:ln w="12700">
            <a:solidFill>
              <a:srgbClr val="0B48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4670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1"/>
            <a:ext cx="12192000" cy="933651"/>
          </a:xfrm>
          <a:prstGeom prst="rect">
            <a:avLst/>
          </a:prstGeom>
          <a:solidFill>
            <a:srgbClr val="0B4877"/>
          </a:solidFill>
          <a:ln w="25400">
            <a:noFill/>
          </a:ln>
          <a:effectLst>
            <a:outerShdw dist="50800" dir="5400000" algn="t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4000" b="1" i="1" kern="0" dirty="0">
                <a:solidFill>
                  <a:prstClr val="white">
                    <a:lumMod val="95000"/>
                  </a:prstClr>
                </a:solidFill>
              </a:rPr>
              <a:t>시스템 구성도</a:t>
            </a:r>
            <a:r>
              <a:rPr lang="en-US" altLang="ko-KR" sz="4000" b="1" i="1" kern="0" dirty="0">
                <a:solidFill>
                  <a:prstClr val="white">
                    <a:lumMod val="95000"/>
                  </a:prstClr>
                </a:solidFill>
              </a:rPr>
              <a:t> (ER</a:t>
            </a:r>
            <a:r>
              <a:rPr lang="ko-KR" altLang="en-US" sz="4000" b="1" i="1" kern="0" dirty="0">
                <a:solidFill>
                  <a:prstClr val="white">
                    <a:lumMod val="95000"/>
                  </a:prstClr>
                </a:solidFill>
              </a:rPr>
              <a:t>모델</a:t>
            </a:r>
            <a:r>
              <a:rPr lang="en-US" altLang="ko-KR" sz="4000" b="1" i="1" kern="0" dirty="0">
                <a:solidFill>
                  <a:prstClr val="white">
                    <a:lumMod val="95000"/>
                  </a:prstClr>
                </a:solidFill>
              </a:rPr>
              <a:t>)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1963" y="1278332"/>
            <a:ext cx="3086100" cy="51435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40" y="1257757"/>
            <a:ext cx="2867025" cy="301942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022539" y="2438137"/>
            <a:ext cx="400050" cy="5715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861" y="1278332"/>
            <a:ext cx="2971800" cy="360045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717125" y="2471476"/>
            <a:ext cx="333375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430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1"/>
            <a:ext cx="12192000" cy="933651"/>
          </a:xfrm>
          <a:prstGeom prst="rect">
            <a:avLst/>
          </a:prstGeom>
          <a:solidFill>
            <a:srgbClr val="0B4877"/>
          </a:solidFill>
          <a:ln w="25400">
            <a:noFill/>
          </a:ln>
          <a:effectLst>
            <a:outerShdw dist="50800" dir="5400000" algn="t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4000" b="1" i="1" kern="0" dirty="0">
                <a:solidFill>
                  <a:prstClr val="white">
                    <a:lumMod val="95000"/>
                  </a:prstClr>
                </a:solidFill>
              </a:rPr>
              <a:t>시스템 흐름도</a:t>
            </a:r>
            <a:endParaRPr lang="en-US" altLang="ko-KR" sz="4000" b="1" i="1" kern="0" dirty="0">
              <a:solidFill>
                <a:prstClr val="white">
                  <a:lumMod val="95000"/>
                </a:prstClr>
              </a:solidFill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78784" y="941320"/>
            <a:ext cx="899028" cy="788841"/>
            <a:chOff x="1061597" y="1985774"/>
            <a:chExt cx="899028" cy="746672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668A711-A4E2-4B1E-8852-AD9349C2BCCB}"/>
                </a:ext>
              </a:extLst>
            </p:cNvPr>
            <p:cNvSpPr txBox="1"/>
            <p:nvPr/>
          </p:nvSpPr>
          <p:spPr>
            <a:xfrm>
              <a:off x="1061597" y="2458255"/>
              <a:ext cx="899028" cy="2741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latinLnBrk="0">
                <a:lnSpc>
                  <a:spcPct val="150000"/>
                </a:lnSpc>
                <a:defRPr/>
              </a:pPr>
              <a:r>
                <a:rPr lang="ko-KR" altLang="en-US" sz="1400" b="1" kern="0" dirty="0" err="1">
                  <a:solidFill>
                    <a:srgbClr val="002060"/>
                  </a:solidFill>
                </a:rPr>
                <a:t>스타트업</a:t>
              </a:r>
              <a:endParaRPr lang="en-US" altLang="ko-KR" sz="1400" b="1" kern="0" dirty="0">
                <a:solidFill>
                  <a:srgbClr val="002060"/>
                </a:solidFill>
              </a:endParaRPr>
            </a:p>
          </p:txBody>
        </p:sp>
        <p:pic>
          <p:nvPicPr>
            <p:cNvPr id="49" name="그림 4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8243" y="1985774"/>
              <a:ext cx="585735" cy="585735"/>
            </a:xfrm>
            <a:prstGeom prst="rect">
              <a:avLst/>
            </a:prstGeom>
          </p:spPr>
        </p:pic>
      </p:grpSp>
      <p:grpSp>
        <p:nvGrpSpPr>
          <p:cNvPr id="50" name="그룹 49"/>
          <p:cNvGrpSpPr/>
          <p:nvPr/>
        </p:nvGrpSpPr>
        <p:grpSpPr>
          <a:xfrm>
            <a:off x="4273583" y="942834"/>
            <a:ext cx="899028" cy="874435"/>
            <a:chOff x="1061597" y="3188552"/>
            <a:chExt cx="899028" cy="827690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668A711-A4E2-4B1E-8852-AD9349C2BCCB}"/>
                </a:ext>
              </a:extLst>
            </p:cNvPr>
            <p:cNvSpPr txBox="1"/>
            <p:nvPr/>
          </p:nvSpPr>
          <p:spPr>
            <a:xfrm>
              <a:off x="1061597" y="3642357"/>
              <a:ext cx="899028" cy="3738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latinLnBrk="0">
                <a:lnSpc>
                  <a:spcPct val="150000"/>
                </a:lnSpc>
                <a:defRPr/>
              </a:pPr>
              <a:r>
                <a:rPr lang="ko-KR" altLang="en-US" sz="1400" b="1" kern="0" dirty="0">
                  <a:solidFill>
                    <a:srgbClr val="002060"/>
                  </a:solidFill>
                </a:rPr>
                <a:t>제조업체</a:t>
              </a:r>
              <a:endParaRPr lang="en-US" altLang="ko-KR" sz="1400" b="1" kern="0" dirty="0">
                <a:solidFill>
                  <a:srgbClr val="002060"/>
                </a:solidFill>
              </a:endParaRPr>
            </a:p>
          </p:txBody>
        </p:sp>
        <p:pic>
          <p:nvPicPr>
            <p:cNvPr id="56" name="그림 5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4395" y="3188552"/>
              <a:ext cx="585735" cy="585735"/>
            </a:xfrm>
            <a:prstGeom prst="rect">
              <a:avLst/>
            </a:prstGeom>
          </p:spPr>
        </p:pic>
      </p:grpSp>
      <p:grpSp>
        <p:nvGrpSpPr>
          <p:cNvPr id="61" name="그룹 60"/>
          <p:cNvGrpSpPr/>
          <p:nvPr/>
        </p:nvGrpSpPr>
        <p:grpSpPr>
          <a:xfrm>
            <a:off x="10277298" y="921426"/>
            <a:ext cx="899028" cy="945789"/>
            <a:chOff x="1061597" y="5489216"/>
            <a:chExt cx="899028" cy="895230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668A711-A4E2-4B1E-8852-AD9349C2BCCB}"/>
                </a:ext>
              </a:extLst>
            </p:cNvPr>
            <p:cNvSpPr txBox="1"/>
            <p:nvPr/>
          </p:nvSpPr>
          <p:spPr>
            <a:xfrm>
              <a:off x="1061597" y="6010561"/>
              <a:ext cx="899028" cy="3738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latinLnBrk="0">
                <a:lnSpc>
                  <a:spcPct val="150000"/>
                </a:lnSpc>
                <a:defRPr/>
              </a:pPr>
              <a:r>
                <a:rPr lang="ko-KR" altLang="en-US" sz="1400" b="1" kern="0" dirty="0">
                  <a:solidFill>
                    <a:srgbClr val="002060"/>
                  </a:solidFill>
                </a:rPr>
                <a:t>관리자</a:t>
              </a:r>
              <a:endParaRPr lang="en-US" altLang="ko-KR" sz="1400" b="1" kern="0" dirty="0">
                <a:solidFill>
                  <a:srgbClr val="002060"/>
                </a:solidFill>
              </a:endParaRPr>
            </a:p>
          </p:txBody>
        </p:sp>
        <p:pic>
          <p:nvPicPr>
            <p:cNvPr id="72" name="그림 7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8242" y="5489216"/>
              <a:ext cx="585735" cy="585735"/>
            </a:xfrm>
            <a:prstGeom prst="rect">
              <a:avLst/>
            </a:prstGeom>
          </p:spPr>
        </p:pic>
      </p:grpSp>
      <p:sp>
        <p:nvSpPr>
          <p:cNvPr id="83" name="직사각형 82"/>
          <p:cNvSpPr/>
          <p:nvPr/>
        </p:nvSpPr>
        <p:spPr>
          <a:xfrm>
            <a:off x="1918262" y="1695846"/>
            <a:ext cx="876291" cy="479489"/>
          </a:xfrm>
          <a:prstGeom prst="rect">
            <a:avLst/>
          </a:prstGeom>
          <a:solidFill>
            <a:schemeClr val="bg1"/>
          </a:solidFill>
          <a:ln>
            <a:solidFill>
              <a:srgbClr val="0B48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9698384" y="1893336"/>
            <a:ext cx="2212572" cy="634519"/>
          </a:xfrm>
          <a:prstGeom prst="rect">
            <a:avLst/>
          </a:prstGeom>
          <a:solidFill>
            <a:schemeClr val="bg1"/>
          </a:solidFill>
          <a:ln>
            <a:solidFill>
              <a:srgbClr val="0B48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</a:t>
            </a: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</a:t>
            </a:r>
          </a:p>
        </p:txBody>
      </p:sp>
      <p:sp>
        <p:nvSpPr>
          <p:cNvPr id="90" name="직사각형 89"/>
          <p:cNvSpPr/>
          <p:nvPr/>
        </p:nvSpPr>
        <p:spPr>
          <a:xfrm>
            <a:off x="9698383" y="2719830"/>
            <a:ext cx="2215299" cy="3787638"/>
          </a:xfrm>
          <a:prstGeom prst="rect">
            <a:avLst/>
          </a:prstGeom>
          <a:solidFill>
            <a:schemeClr val="bg1"/>
          </a:solidFill>
          <a:ln>
            <a:solidFill>
              <a:srgbClr val="0B48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7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 관리</a:t>
            </a:r>
            <a:endParaRPr lang="en-US" altLang="ko-KR" sz="17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17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7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기업 관리</a:t>
            </a:r>
            <a:endParaRPr lang="en-US" altLang="ko-KR" sz="17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17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7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endParaRPr lang="en-US" altLang="ko-KR" sz="17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17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7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서식 관리</a:t>
            </a:r>
            <a:endParaRPr lang="en-US" altLang="ko-KR" sz="17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17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7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약관 관리</a:t>
            </a:r>
            <a:endParaRPr lang="en-US" altLang="ko-KR" sz="17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17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7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  <a:endParaRPr lang="en-US" altLang="ko-KR" sz="17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17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7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통계</a:t>
            </a:r>
            <a:endParaRPr lang="en-US" altLang="ko-KR" sz="17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162556" y="2604103"/>
            <a:ext cx="1317218" cy="527718"/>
          </a:xfrm>
          <a:prstGeom prst="rect">
            <a:avLst/>
          </a:prstGeom>
          <a:solidFill>
            <a:schemeClr val="bg1"/>
          </a:solidFill>
          <a:ln>
            <a:solidFill>
              <a:srgbClr val="0B48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기업정보</a:t>
            </a:r>
            <a:endParaRPr lang="en-US" altLang="ko-KR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7844210" y="3309522"/>
            <a:ext cx="1314322" cy="322405"/>
          </a:xfrm>
          <a:prstGeom prst="rect">
            <a:avLst/>
          </a:prstGeom>
          <a:solidFill>
            <a:schemeClr val="bg1"/>
          </a:solidFill>
          <a:ln>
            <a:solidFill>
              <a:srgbClr val="0B48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기업정보</a:t>
            </a: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7844210" y="3809628"/>
            <a:ext cx="1314322" cy="322405"/>
          </a:xfrm>
          <a:prstGeom prst="rect">
            <a:avLst/>
          </a:prstGeom>
          <a:solidFill>
            <a:schemeClr val="bg1"/>
          </a:solidFill>
          <a:ln>
            <a:solidFill>
              <a:srgbClr val="0B48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서명관리</a:t>
            </a: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7" name="꺾인 연결선 36"/>
          <p:cNvCxnSpPr/>
          <p:nvPr/>
        </p:nvCxnSpPr>
        <p:spPr>
          <a:xfrm>
            <a:off x="834133" y="1250672"/>
            <a:ext cx="1535243" cy="445118"/>
          </a:xfrm>
          <a:prstGeom prst="bentConnector2">
            <a:avLst/>
          </a:prstGeom>
          <a:ln w="12700">
            <a:solidFill>
              <a:srgbClr val="0B48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꺾인 연결선 40"/>
          <p:cNvCxnSpPr/>
          <p:nvPr/>
        </p:nvCxnSpPr>
        <p:spPr>
          <a:xfrm rot="10800000" flipV="1">
            <a:off x="2369377" y="1252186"/>
            <a:ext cx="2079973" cy="443604"/>
          </a:xfrm>
          <a:prstGeom prst="bentConnector2">
            <a:avLst/>
          </a:prstGeom>
          <a:ln w="12700">
            <a:solidFill>
              <a:srgbClr val="0B48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직사각형 105"/>
          <p:cNvSpPr/>
          <p:nvPr/>
        </p:nvSpPr>
        <p:spPr>
          <a:xfrm>
            <a:off x="3029410" y="1695846"/>
            <a:ext cx="876291" cy="479489"/>
          </a:xfrm>
          <a:prstGeom prst="rect">
            <a:avLst/>
          </a:prstGeom>
          <a:solidFill>
            <a:schemeClr val="bg1"/>
          </a:solidFill>
          <a:ln>
            <a:solidFill>
              <a:srgbClr val="0B48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</a:t>
            </a:r>
          </a:p>
        </p:txBody>
      </p:sp>
      <p:cxnSp>
        <p:nvCxnSpPr>
          <p:cNvPr id="74" name="직선 연결선 73"/>
          <p:cNvCxnSpPr>
            <a:stCxn id="83" idx="3"/>
            <a:endCxn id="106" idx="1"/>
          </p:cNvCxnSpPr>
          <p:nvPr/>
        </p:nvCxnSpPr>
        <p:spPr>
          <a:xfrm>
            <a:off x="2794553" y="1935591"/>
            <a:ext cx="2348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직사각형 112"/>
          <p:cNvSpPr/>
          <p:nvPr/>
        </p:nvSpPr>
        <p:spPr>
          <a:xfrm>
            <a:off x="7841314" y="2604103"/>
            <a:ext cx="1317218" cy="527718"/>
          </a:xfrm>
          <a:prstGeom prst="rect">
            <a:avLst/>
          </a:prstGeom>
          <a:solidFill>
            <a:schemeClr val="bg1"/>
          </a:solidFill>
          <a:ln>
            <a:solidFill>
              <a:srgbClr val="0B48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마이 페이지</a:t>
            </a:r>
            <a:endParaRPr lang="en-US" altLang="ko-KR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5" name="직사각형 114"/>
          <p:cNvSpPr/>
          <p:nvPr/>
        </p:nvSpPr>
        <p:spPr>
          <a:xfrm>
            <a:off x="2082246" y="2604103"/>
            <a:ext cx="1317218" cy="527718"/>
          </a:xfrm>
          <a:prstGeom prst="rect">
            <a:avLst/>
          </a:prstGeom>
          <a:solidFill>
            <a:schemeClr val="bg1"/>
          </a:solidFill>
          <a:ln>
            <a:solidFill>
              <a:srgbClr val="0B48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endParaRPr lang="en-US" altLang="ko-KR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4001936" y="2604103"/>
            <a:ext cx="1317218" cy="527718"/>
          </a:xfrm>
          <a:prstGeom prst="rect">
            <a:avLst/>
          </a:prstGeom>
          <a:solidFill>
            <a:schemeClr val="bg1"/>
          </a:solidFill>
          <a:ln>
            <a:solidFill>
              <a:srgbClr val="0B48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  <a:endParaRPr lang="en-US" altLang="ko-KR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5921626" y="2604103"/>
            <a:ext cx="1317218" cy="527718"/>
          </a:xfrm>
          <a:prstGeom prst="rect">
            <a:avLst/>
          </a:prstGeom>
          <a:solidFill>
            <a:schemeClr val="bg1"/>
          </a:solidFill>
          <a:ln>
            <a:solidFill>
              <a:srgbClr val="0B48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이용약관</a:t>
            </a:r>
            <a:endParaRPr lang="en-US" altLang="ko-KR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7843717" y="4309734"/>
            <a:ext cx="1314322" cy="322405"/>
          </a:xfrm>
          <a:prstGeom prst="rect">
            <a:avLst/>
          </a:prstGeom>
          <a:solidFill>
            <a:schemeClr val="bg1"/>
          </a:solidFill>
          <a:ln>
            <a:solidFill>
              <a:srgbClr val="0B48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회원탈퇴</a:t>
            </a: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9" name="직선 연결선 78"/>
          <p:cNvCxnSpPr>
            <a:stCxn id="57" idx="2"/>
            <a:endCxn id="84" idx="0"/>
          </p:cNvCxnSpPr>
          <p:nvPr/>
        </p:nvCxnSpPr>
        <p:spPr>
          <a:xfrm>
            <a:off x="8501371" y="3631927"/>
            <a:ext cx="0" cy="177701"/>
          </a:xfrm>
          <a:prstGeom prst="line">
            <a:avLst/>
          </a:prstGeom>
          <a:ln w="12700">
            <a:solidFill>
              <a:srgbClr val="0B48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>
            <a:stCxn id="84" idx="2"/>
            <a:endCxn id="122" idx="0"/>
          </p:cNvCxnSpPr>
          <p:nvPr/>
        </p:nvCxnSpPr>
        <p:spPr>
          <a:xfrm flipH="1">
            <a:off x="8500878" y="4132033"/>
            <a:ext cx="493" cy="177701"/>
          </a:xfrm>
          <a:prstGeom prst="line">
            <a:avLst/>
          </a:prstGeom>
          <a:ln w="12700">
            <a:solidFill>
              <a:srgbClr val="0B48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/>
          <p:cNvCxnSpPr>
            <a:endCxn id="57" idx="0"/>
          </p:cNvCxnSpPr>
          <p:nvPr/>
        </p:nvCxnSpPr>
        <p:spPr>
          <a:xfrm>
            <a:off x="8499923" y="3128646"/>
            <a:ext cx="1448" cy="180876"/>
          </a:xfrm>
          <a:prstGeom prst="line">
            <a:avLst/>
          </a:prstGeom>
          <a:ln w="12700">
            <a:solidFill>
              <a:srgbClr val="0B48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꺾인 연결선 96"/>
          <p:cNvCxnSpPr>
            <a:stCxn id="57" idx="3"/>
            <a:endCxn id="87" idx="1"/>
          </p:cNvCxnSpPr>
          <p:nvPr/>
        </p:nvCxnSpPr>
        <p:spPr>
          <a:xfrm flipV="1">
            <a:off x="9158532" y="2210596"/>
            <a:ext cx="539852" cy="1260129"/>
          </a:xfrm>
          <a:prstGeom prst="bentConnector3">
            <a:avLst/>
          </a:prstGeom>
          <a:ln w="12700">
            <a:solidFill>
              <a:srgbClr val="0B48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직사각형 135"/>
          <p:cNvSpPr/>
          <p:nvPr/>
        </p:nvSpPr>
        <p:spPr>
          <a:xfrm>
            <a:off x="5923074" y="3309522"/>
            <a:ext cx="1314322" cy="322405"/>
          </a:xfrm>
          <a:prstGeom prst="rect">
            <a:avLst/>
          </a:prstGeom>
          <a:solidFill>
            <a:schemeClr val="bg1"/>
          </a:solidFill>
          <a:ln>
            <a:solidFill>
              <a:srgbClr val="0B48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이용약관</a:t>
            </a: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9" name="직사각형 138"/>
          <p:cNvSpPr/>
          <p:nvPr/>
        </p:nvSpPr>
        <p:spPr>
          <a:xfrm>
            <a:off x="5927427" y="3805632"/>
            <a:ext cx="1314322" cy="322405"/>
          </a:xfrm>
          <a:prstGeom prst="rect">
            <a:avLst/>
          </a:prstGeom>
          <a:solidFill>
            <a:schemeClr val="bg1"/>
          </a:solidFill>
          <a:ln>
            <a:solidFill>
              <a:srgbClr val="0B48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개인정보처리방침</a:t>
            </a:r>
            <a:endParaRPr lang="en-US" altLang="ko-KR" sz="11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1302692" y="3309522"/>
            <a:ext cx="1314322" cy="322405"/>
          </a:xfrm>
          <a:prstGeom prst="rect">
            <a:avLst/>
          </a:prstGeom>
          <a:solidFill>
            <a:schemeClr val="bg1"/>
          </a:solidFill>
          <a:ln>
            <a:solidFill>
              <a:srgbClr val="0B48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모집 프로젝트</a:t>
            </a: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1302692" y="3809628"/>
            <a:ext cx="1314322" cy="322405"/>
          </a:xfrm>
          <a:prstGeom prst="rect">
            <a:avLst/>
          </a:prstGeom>
          <a:solidFill>
            <a:schemeClr val="bg1"/>
          </a:solidFill>
          <a:ln>
            <a:solidFill>
              <a:srgbClr val="0B48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1302199" y="4309734"/>
            <a:ext cx="1314322" cy="322405"/>
          </a:xfrm>
          <a:prstGeom prst="rect">
            <a:avLst/>
          </a:prstGeom>
          <a:solidFill>
            <a:schemeClr val="bg1"/>
          </a:solidFill>
          <a:ln>
            <a:solidFill>
              <a:srgbClr val="0B48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매칭 신청</a:t>
            </a: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2" name="직선 연결선 61"/>
          <p:cNvCxnSpPr>
            <a:stCxn id="58" idx="2"/>
            <a:endCxn id="59" idx="0"/>
          </p:cNvCxnSpPr>
          <p:nvPr/>
        </p:nvCxnSpPr>
        <p:spPr>
          <a:xfrm>
            <a:off x="1959853" y="3631927"/>
            <a:ext cx="0" cy="177701"/>
          </a:xfrm>
          <a:prstGeom prst="line">
            <a:avLst/>
          </a:prstGeom>
          <a:ln w="12700">
            <a:solidFill>
              <a:srgbClr val="0B48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>
            <a:stCxn id="59" idx="2"/>
            <a:endCxn id="60" idx="0"/>
          </p:cNvCxnSpPr>
          <p:nvPr/>
        </p:nvCxnSpPr>
        <p:spPr>
          <a:xfrm flipH="1">
            <a:off x="1959360" y="4132033"/>
            <a:ext cx="493" cy="177701"/>
          </a:xfrm>
          <a:prstGeom prst="line">
            <a:avLst/>
          </a:prstGeom>
          <a:ln w="12700">
            <a:solidFill>
              <a:srgbClr val="0B48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/>
          <p:cNvSpPr/>
          <p:nvPr/>
        </p:nvSpPr>
        <p:spPr>
          <a:xfrm>
            <a:off x="2874264" y="3314671"/>
            <a:ext cx="1314322" cy="322405"/>
          </a:xfrm>
          <a:prstGeom prst="rect">
            <a:avLst/>
          </a:prstGeom>
          <a:solidFill>
            <a:schemeClr val="bg1"/>
          </a:solidFill>
          <a:ln>
            <a:solidFill>
              <a:srgbClr val="0B48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</a:t>
            </a:r>
            <a:r>
              <a:rPr lang="ko-KR" altLang="en-US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현황</a:t>
            </a:r>
            <a:endParaRPr lang="en-US" altLang="ko-KR" sz="11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2874264" y="3814777"/>
            <a:ext cx="1314322" cy="322405"/>
          </a:xfrm>
          <a:prstGeom prst="rect">
            <a:avLst/>
          </a:prstGeom>
          <a:solidFill>
            <a:schemeClr val="bg1"/>
          </a:solidFill>
          <a:ln>
            <a:solidFill>
              <a:srgbClr val="0B48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2873771" y="4314883"/>
            <a:ext cx="1314322" cy="311469"/>
          </a:xfrm>
          <a:prstGeom prst="rect">
            <a:avLst/>
          </a:prstGeom>
          <a:solidFill>
            <a:schemeClr val="bg1"/>
          </a:solidFill>
          <a:ln>
            <a:solidFill>
              <a:srgbClr val="0B48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</a:t>
            </a: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8" name="직선 연결선 77"/>
          <p:cNvCxnSpPr>
            <a:stCxn id="75" idx="2"/>
            <a:endCxn id="76" idx="0"/>
          </p:cNvCxnSpPr>
          <p:nvPr/>
        </p:nvCxnSpPr>
        <p:spPr>
          <a:xfrm>
            <a:off x="3531425" y="3637076"/>
            <a:ext cx="0" cy="177701"/>
          </a:xfrm>
          <a:prstGeom prst="line">
            <a:avLst/>
          </a:prstGeom>
          <a:ln w="12700">
            <a:solidFill>
              <a:srgbClr val="0B48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/>
          <p:cNvCxnSpPr>
            <a:stCxn id="76" idx="2"/>
            <a:endCxn id="77" idx="0"/>
          </p:cNvCxnSpPr>
          <p:nvPr/>
        </p:nvCxnSpPr>
        <p:spPr>
          <a:xfrm flipH="1">
            <a:off x="3530932" y="4137182"/>
            <a:ext cx="493" cy="177701"/>
          </a:xfrm>
          <a:prstGeom prst="line">
            <a:avLst/>
          </a:prstGeom>
          <a:ln w="12700">
            <a:solidFill>
              <a:srgbClr val="0B48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직사각형 84"/>
          <p:cNvSpPr/>
          <p:nvPr/>
        </p:nvSpPr>
        <p:spPr>
          <a:xfrm>
            <a:off x="2873770" y="4793428"/>
            <a:ext cx="1314322" cy="311469"/>
          </a:xfrm>
          <a:prstGeom prst="rect">
            <a:avLst/>
          </a:prstGeom>
          <a:solidFill>
            <a:schemeClr val="bg1"/>
          </a:solidFill>
          <a:ln>
            <a:solidFill>
              <a:srgbClr val="0B48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6" name="직선 연결선 85"/>
          <p:cNvCxnSpPr>
            <a:endCxn id="85" idx="0"/>
          </p:cNvCxnSpPr>
          <p:nvPr/>
        </p:nvCxnSpPr>
        <p:spPr>
          <a:xfrm flipH="1">
            <a:off x="3530931" y="4615727"/>
            <a:ext cx="493" cy="177701"/>
          </a:xfrm>
          <a:prstGeom prst="line">
            <a:avLst/>
          </a:prstGeom>
          <a:ln w="12700">
            <a:solidFill>
              <a:srgbClr val="0B48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/>
          <p:cNvSpPr/>
          <p:nvPr/>
        </p:nvSpPr>
        <p:spPr>
          <a:xfrm>
            <a:off x="1314647" y="4794241"/>
            <a:ext cx="1314322" cy="322405"/>
          </a:xfrm>
          <a:prstGeom prst="rect">
            <a:avLst/>
          </a:prstGeom>
          <a:solidFill>
            <a:schemeClr val="bg1"/>
          </a:solidFill>
          <a:ln>
            <a:solidFill>
              <a:srgbClr val="0B48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전자 계약</a:t>
            </a: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1314154" y="5294347"/>
            <a:ext cx="1314322" cy="322405"/>
          </a:xfrm>
          <a:prstGeom prst="rect">
            <a:avLst/>
          </a:prstGeom>
          <a:solidFill>
            <a:schemeClr val="bg1"/>
          </a:solidFill>
          <a:ln>
            <a:solidFill>
              <a:srgbClr val="0B48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계약 협의</a:t>
            </a: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3" name="직선 연결선 92"/>
          <p:cNvCxnSpPr>
            <a:endCxn id="89" idx="0"/>
          </p:cNvCxnSpPr>
          <p:nvPr/>
        </p:nvCxnSpPr>
        <p:spPr>
          <a:xfrm>
            <a:off x="1971808" y="4616540"/>
            <a:ext cx="0" cy="177701"/>
          </a:xfrm>
          <a:prstGeom prst="line">
            <a:avLst/>
          </a:prstGeom>
          <a:ln w="12700">
            <a:solidFill>
              <a:srgbClr val="0B48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/>
          <p:cNvCxnSpPr>
            <a:stCxn id="89" idx="2"/>
            <a:endCxn id="91" idx="0"/>
          </p:cNvCxnSpPr>
          <p:nvPr/>
        </p:nvCxnSpPr>
        <p:spPr>
          <a:xfrm flipH="1">
            <a:off x="1971315" y="5116646"/>
            <a:ext cx="493" cy="177701"/>
          </a:xfrm>
          <a:prstGeom prst="line">
            <a:avLst/>
          </a:prstGeom>
          <a:ln w="12700">
            <a:solidFill>
              <a:srgbClr val="0B48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꺾인 연결선 3"/>
          <p:cNvCxnSpPr>
            <a:stCxn id="83" idx="2"/>
            <a:endCxn id="55" idx="0"/>
          </p:cNvCxnSpPr>
          <p:nvPr/>
        </p:nvCxnSpPr>
        <p:spPr>
          <a:xfrm rot="5400000">
            <a:off x="1374403" y="1622098"/>
            <a:ext cx="428768" cy="1535243"/>
          </a:xfrm>
          <a:prstGeom prst="bentConnector3">
            <a:avLst/>
          </a:prstGeom>
          <a:ln w="12700">
            <a:solidFill>
              <a:srgbClr val="0B48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꺾인 연결선 9"/>
          <p:cNvCxnSpPr>
            <a:stCxn id="83" idx="2"/>
            <a:endCxn id="115" idx="0"/>
          </p:cNvCxnSpPr>
          <p:nvPr/>
        </p:nvCxnSpPr>
        <p:spPr>
          <a:xfrm rot="16200000" flipH="1">
            <a:off x="2334247" y="2197495"/>
            <a:ext cx="428768" cy="384447"/>
          </a:xfrm>
          <a:prstGeom prst="bentConnector3">
            <a:avLst>
              <a:gd name="adj1" fmla="val 50000"/>
            </a:avLst>
          </a:prstGeom>
          <a:ln w="12700">
            <a:solidFill>
              <a:srgbClr val="0B48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7"/>
          <p:cNvCxnSpPr>
            <a:stCxn id="83" idx="2"/>
            <a:endCxn id="116" idx="0"/>
          </p:cNvCxnSpPr>
          <p:nvPr/>
        </p:nvCxnSpPr>
        <p:spPr>
          <a:xfrm rot="16200000" flipH="1">
            <a:off x="3294092" y="1237650"/>
            <a:ext cx="428768" cy="2304137"/>
          </a:xfrm>
          <a:prstGeom prst="bentConnector3">
            <a:avLst/>
          </a:prstGeom>
          <a:ln w="12700">
            <a:solidFill>
              <a:srgbClr val="0B48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stCxn id="83" idx="2"/>
            <a:endCxn id="117" idx="0"/>
          </p:cNvCxnSpPr>
          <p:nvPr/>
        </p:nvCxnSpPr>
        <p:spPr>
          <a:xfrm rot="16200000" flipH="1">
            <a:off x="4253937" y="277805"/>
            <a:ext cx="428768" cy="4223827"/>
          </a:xfrm>
          <a:prstGeom prst="bentConnector3">
            <a:avLst/>
          </a:prstGeom>
          <a:ln w="12700">
            <a:solidFill>
              <a:srgbClr val="0B48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연결선 21"/>
          <p:cNvCxnSpPr>
            <a:stCxn id="83" idx="2"/>
            <a:endCxn id="113" idx="0"/>
          </p:cNvCxnSpPr>
          <p:nvPr/>
        </p:nvCxnSpPr>
        <p:spPr>
          <a:xfrm rot="16200000" flipH="1">
            <a:off x="5213781" y="-682039"/>
            <a:ext cx="428768" cy="6143515"/>
          </a:xfrm>
          <a:prstGeom prst="bentConnector3">
            <a:avLst/>
          </a:prstGeom>
          <a:ln w="12700">
            <a:solidFill>
              <a:srgbClr val="0B48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/>
          <p:cNvSpPr/>
          <p:nvPr/>
        </p:nvSpPr>
        <p:spPr>
          <a:xfrm>
            <a:off x="551830" y="5778854"/>
            <a:ext cx="1314322" cy="322405"/>
          </a:xfrm>
          <a:prstGeom prst="rect">
            <a:avLst/>
          </a:prstGeom>
          <a:solidFill>
            <a:schemeClr val="bg1"/>
          </a:solidFill>
          <a:ln>
            <a:solidFill>
              <a:srgbClr val="0B48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계약 성사</a:t>
            </a: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2071531" y="5778854"/>
            <a:ext cx="1314322" cy="322405"/>
          </a:xfrm>
          <a:prstGeom prst="rect">
            <a:avLst/>
          </a:prstGeom>
          <a:solidFill>
            <a:schemeClr val="bg1"/>
          </a:solidFill>
          <a:ln>
            <a:solidFill>
              <a:srgbClr val="0B48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철회</a:t>
            </a: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1" name="꺾인 연결선 30"/>
          <p:cNvCxnSpPr>
            <a:stCxn id="115" idx="2"/>
            <a:endCxn id="58" idx="0"/>
          </p:cNvCxnSpPr>
          <p:nvPr/>
        </p:nvCxnSpPr>
        <p:spPr>
          <a:xfrm rot="5400000">
            <a:off x="2261504" y="2830170"/>
            <a:ext cx="177701" cy="781002"/>
          </a:xfrm>
          <a:prstGeom prst="bentConnector3">
            <a:avLst/>
          </a:prstGeom>
          <a:ln w="12700">
            <a:solidFill>
              <a:srgbClr val="0B48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꺾인 연결선 32"/>
          <p:cNvCxnSpPr>
            <a:stCxn id="115" idx="2"/>
            <a:endCxn id="75" idx="0"/>
          </p:cNvCxnSpPr>
          <p:nvPr/>
        </p:nvCxnSpPr>
        <p:spPr>
          <a:xfrm rot="16200000" flipH="1">
            <a:off x="3044715" y="2827961"/>
            <a:ext cx="182850" cy="790570"/>
          </a:xfrm>
          <a:prstGeom prst="bentConnector3">
            <a:avLst/>
          </a:prstGeom>
          <a:ln w="12700">
            <a:solidFill>
              <a:srgbClr val="0B48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꺾인 연결선 34"/>
          <p:cNvCxnSpPr>
            <a:stCxn id="91" idx="2"/>
            <a:endCxn id="96" idx="0"/>
          </p:cNvCxnSpPr>
          <p:nvPr/>
        </p:nvCxnSpPr>
        <p:spPr>
          <a:xfrm rot="5400000">
            <a:off x="1509102" y="5316641"/>
            <a:ext cx="162102" cy="762324"/>
          </a:xfrm>
          <a:prstGeom prst="bentConnector3">
            <a:avLst/>
          </a:prstGeom>
          <a:ln w="12700">
            <a:solidFill>
              <a:srgbClr val="0B48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꺾인 연결선 37"/>
          <p:cNvCxnSpPr>
            <a:stCxn id="91" idx="2"/>
            <a:endCxn id="100" idx="0"/>
          </p:cNvCxnSpPr>
          <p:nvPr/>
        </p:nvCxnSpPr>
        <p:spPr>
          <a:xfrm rot="16200000" flipH="1">
            <a:off x="2268952" y="5319114"/>
            <a:ext cx="162102" cy="757377"/>
          </a:xfrm>
          <a:prstGeom prst="bentConnector3">
            <a:avLst/>
          </a:prstGeom>
          <a:ln w="12700">
            <a:solidFill>
              <a:srgbClr val="0B48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1681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1"/>
            <a:ext cx="12192000" cy="933651"/>
          </a:xfrm>
          <a:prstGeom prst="rect">
            <a:avLst/>
          </a:prstGeom>
          <a:solidFill>
            <a:srgbClr val="0B4877"/>
          </a:solidFill>
          <a:ln w="25400">
            <a:noFill/>
          </a:ln>
          <a:effectLst>
            <a:outerShdw dist="50800" dir="5400000" algn="t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4000" b="1" i="1" kern="0" dirty="0">
                <a:solidFill>
                  <a:prstClr val="white">
                    <a:lumMod val="95000"/>
                  </a:prstClr>
                </a:solidFill>
              </a:rPr>
              <a:t>시스템 주요기능</a:t>
            </a:r>
            <a:endParaRPr lang="en-US" altLang="ko-KR" sz="4000" b="1" i="1" kern="0" dirty="0">
              <a:solidFill>
                <a:prstClr val="white">
                  <a:lumMod val="95000"/>
                </a:prstClr>
              </a:solidFill>
            </a:endParaRPr>
          </a:p>
        </p:txBody>
      </p:sp>
      <p:grpSp>
        <p:nvGrpSpPr>
          <p:cNvPr id="25" name="그룹 24"/>
          <p:cNvGrpSpPr/>
          <p:nvPr/>
        </p:nvGrpSpPr>
        <p:grpSpPr>
          <a:xfrm>
            <a:off x="3642576" y="2808878"/>
            <a:ext cx="2883195" cy="1900338"/>
            <a:chOff x="2991066" y="2544749"/>
            <a:chExt cx="2883195" cy="1900338"/>
          </a:xfrm>
        </p:grpSpPr>
        <p:pic>
          <p:nvPicPr>
            <p:cNvPr id="23" name="그림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91066" y="2544749"/>
              <a:ext cx="2883195" cy="1452109"/>
            </a:xfrm>
            <a:prstGeom prst="rect">
              <a:avLst/>
            </a:prstGeom>
            <a:ln w="9525">
              <a:solidFill>
                <a:srgbClr val="0B4877"/>
              </a:solidFill>
            </a:ln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668A711-A4E2-4B1E-8852-AD9349C2BCCB}"/>
                </a:ext>
              </a:extLst>
            </p:cNvPr>
            <p:cNvSpPr txBox="1"/>
            <p:nvPr/>
          </p:nvSpPr>
          <p:spPr>
            <a:xfrm>
              <a:off x="3601699" y="4075755"/>
              <a:ext cx="17243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 latinLnBrk="0">
                <a:lnSpc>
                  <a:spcPct val="150000"/>
                </a:lnSpc>
                <a:defRPr/>
              </a:pPr>
              <a:r>
                <a:rPr lang="ko-KR" altLang="en-US" sz="1200" b="1" kern="0" dirty="0" err="1">
                  <a:solidFill>
                    <a:srgbClr val="002060"/>
                  </a:solidFill>
                </a:rPr>
                <a:t>마이페이지</a:t>
              </a:r>
              <a:r>
                <a:rPr lang="en-US" altLang="ko-KR" sz="1200" b="1" kern="0" dirty="0">
                  <a:solidFill>
                    <a:srgbClr val="002060"/>
                  </a:solidFill>
                </a:rPr>
                <a:t>-</a:t>
              </a:r>
              <a:r>
                <a:rPr lang="ko-KR" altLang="en-US" sz="1200" b="1" kern="0" dirty="0">
                  <a:solidFill>
                    <a:srgbClr val="002060"/>
                  </a:solidFill>
                </a:rPr>
                <a:t>기업정보</a:t>
              </a:r>
              <a:endParaRPr lang="en-US" altLang="ko-KR" sz="1200" b="1" kern="0" dirty="0">
                <a:solidFill>
                  <a:srgbClr val="002060"/>
                </a:solidFill>
              </a:endParaRPr>
            </a:p>
          </p:txBody>
        </p:sp>
      </p:grpSp>
      <p:cxnSp>
        <p:nvCxnSpPr>
          <p:cNvPr id="27" name="꺾인 연결선 26"/>
          <p:cNvCxnSpPr>
            <a:stCxn id="58" idx="3"/>
            <a:endCxn id="13" idx="1"/>
          </p:cNvCxnSpPr>
          <p:nvPr/>
        </p:nvCxnSpPr>
        <p:spPr>
          <a:xfrm>
            <a:off x="1353569" y="2661314"/>
            <a:ext cx="973900" cy="873618"/>
          </a:xfrm>
          <a:prstGeom prst="bentConnector3">
            <a:avLst>
              <a:gd name="adj1" fmla="val 49756"/>
            </a:avLst>
          </a:prstGeom>
          <a:ln w="25400">
            <a:solidFill>
              <a:srgbClr val="0B48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연결선 28"/>
          <p:cNvCxnSpPr>
            <a:stCxn id="61" idx="3"/>
            <a:endCxn id="13" idx="1"/>
          </p:cNvCxnSpPr>
          <p:nvPr/>
        </p:nvCxnSpPr>
        <p:spPr>
          <a:xfrm flipV="1">
            <a:off x="1367963" y="3534932"/>
            <a:ext cx="959506" cy="840353"/>
          </a:xfrm>
          <a:prstGeom prst="bentConnector3">
            <a:avLst>
              <a:gd name="adj1" fmla="val 49007"/>
            </a:avLst>
          </a:prstGeom>
          <a:ln w="25400">
            <a:solidFill>
              <a:srgbClr val="0B48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그룹 38"/>
          <p:cNvGrpSpPr/>
          <p:nvPr/>
        </p:nvGrpSpPr>
        <p:grpSpPr>
          <a:xfrm>
            <a:off x="10850637" y="2979249"/>
            <a:ext cx="1225908" cy="1334120"/>
            <a:chOff x="8758472" y="1327695"/>
            <a:chExt cx="1225908" cy="1334120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04380" y="1327695"/>
              <a:ext cx="1080000" cy="1080000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668A711-A4E2-4B1E-8852-AD9349C2BCCB}"/>
                </a:ext>
              </a:extLst>
            </p:cNvPr>
            <p:cNvSpPr txBox="1"/>
            <p:nvPr/>
          </p:nvSpPr>
          <p:spPr>
            <a:xfrm>
              <a:off x="8758472" y="2328198"/>
              <a:ext cx="1225908" cy="3336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latinLnBrk="0">
                <a:lnSpc>
                  <a:spcPct val="150000"/>
                </a:lnSpc>
                <a:defRPr/>
              </a:pPr>
              <a:r>
                <a:rPr lang="ko-KR" altLang="en-US" sz="1200" b="1" kern="0" dirty="0" err="1">
                  <a:solidFill>
                    <a:srgbClr val="002060"/>
                  </a:solidFill>
                </a:rPr>
                <a:t>통합관리자</a:t>
              </a:r>
              <a:endParaRPr lang="en-US" altLang="ko-KR" sz="1200" b="1" kern="0" dirty="0">
                <a:solidFill>
                  <a:srgbClr val="002060"/>
                </a:solidFill>
              </a:endParaRPr>
            </a:p>
          </p:txBody>
        </p:sp>
      </p:grpSp>
      <p:cxnSp>
        <p:nvCxnSpPr>
          <p:cNvPr id="41" name="직선 화살표 연결선 40"/>
          <p:cNvCxnSpPr>
            <a:stCxn id="23" idx="3"/>
            <a:endCxn id="42" idx="1"/>
          </p:cNvCxnSpPr>
          <p:nvPr/>
        </p:nvCxnSpPr>
        <p:spPr>
          <a:xfrm>
            <a:off x="6525771" y="3534933"/>
            <a:ext cx="612733" cy="0"/>
          </a:xfrm>
          <a:prstGeom prst="straightConnector1">
            <a:avLst/>
          </a:prstGeom>
          <a:ln w="25400">
            <a:solidFill>
              <a:srgbClr val="0B48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그룹 47"/>
          <p:cNvGrpSpPr/>
          <p:nvPr/>
        </p:nvGrpSpPr>
        <p:grpSpPr>
          <a:xfrm>
            <a:off x="7138504" y="2808878"/>
            <a:ext cx="2883195" cy="1872689"/>
            <a:chOff x="8681554" y="2799362"/>
            <a:chExt cx="2883195" cy="1872689"/>
          </a:xfrm>
        </p:grpSpPr>
        <p:pic>
          <p:nvPicPr>
            <p:cNvPr id="42" name="그림 4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81554" y="2799362"/>
              <a:ext cx="2883195" cy="1452109"/>
            </a:xfrm>
            <a:prstGeom prst="rect">
              <a:avLst/>
            </a:prstGeom>
            <a:ln>
              <a:solidFill>
                <a:srgbClr val="0B4877"/>
              </a:solidFill>
            </a:ln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668A711-A4E2-4B1E-8852-AD9349C2BCCB}"/>
                </a:ext>
              </a:extLst>
            </p:cNvPr>
            <p:cNvSpPr txBox="1"/>
            <p:nvPr/>
          </p:nvSpPr>
          <p:spPr>
            <a:xfrm>
              <a:off x="9260969" y="4338434"/>
              <a:ext cx="1724365" cy="3336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 latinLnBrk="0">
                <a:lnSpc>
                  <a:spcPct val="150000"/>
                </a:lnSpc>
                <a:defRPr/>
              </a:pPr>
              <a:r>
                <a:rPr lang="ko-KR" altLang="en-US" sz="1200" b="1" kern="0" dirty="0" err="1">
                  <a:solidFill>
                    <a:srgbClr val="002060"/>
                  </a:solidFill>
                </a:rPr>
                <a:t>통합관리자</a:t>
              </a:r>
              <a:r>
                <a:rPr lang="en-US" altLang="ko-KR" sz="1200" b="1" kern="0" dirty="0">
                  <a:solidFill>
                    <a:srgbClr val="002060"/>
                  </a:solidFill>
                </a:rPr>
                <a:t>-</a:t>
              </a:r>
              <a:r>
                <a:rPr lang="ko-KR" altLang="en-US" sz="1200" b="1" kern="0" dirty="0">
                  <a:solidFill>
                    <a:srgbClr val="002060"/>
                  </a:solidFill>
                </a:rPr>
                <a:t>회원관리</a:t>
              </a:r>
              <a:endParaRPr lang="en-US" altLang="ko-KR" sz="1200" b="1" kern="0" dirty="0">
                <a:solidFill>
                  <a:srgbClr val="002060"/>
                </a:solidFill>
              </a:endParaRPr>
            </a:p>
          </p:txBody>
        </p:sp>
      </p:grpSp>
      <p:cxnSp>
        <p:nvCxnSpPr>
          <p:cNvPr id="49" name="직선 화살표 연결선 48"/>
          <p:cNvCxnSpPr>
            <a:stCxn id="42" idx="3"/>
            <a:endCxn id="2" idx="1"/>
          </p:cNvCxnSpPr>
          <p:nvPr/>
        </p:nvCxnSpPr>
        <p:spPr>
          <a:xfrm flipV="1">
            <a:off x="10021699" y="3519249"/>
            <a:ext cx="974846" cy="15684"/>
          </a:xfrm>
          <a:prstGeom prst="straightConnector1">
            <a:avLst/>
          </a:prstGeom>
          <a:ln w="25400">
            <a:solidFill>
              <a:srgbClr val="0B48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0" y="1010235"/>
            <a:ext cx="4007315" cy="49449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000" b="1" kern="0" dirty="0">
                <a:solidFill>
                  <a:srgbClr val="002060"/>
                </a:solidFill>
              </a:rPr>
              <a:t>1. </a:t>
            </a:r>
            <a:r>
              <a:rPr lang="ko-KR" altLang="en-US" sz="2000" b="1" kern="0" dirty="0">
                <a:solidFill>
                  <a:srgbClr val="002060"/>
                </a:solidFill>
              </a:rPr>
              <a:t>회원 기업정보 등록</a:t>
            </a:r>
            <a:r>
              <a:rPr lang="en-US" altLang="ko-KR" sz="2000" b="1" kern="0" dirty="0">
                <a:solidFill>
                  <a:srgbClr val="002060"/>
                </a:solidFill>
              </a:rPr>
              <a:t>/</a:t>
            </a:r>
            <a:r>
              <a:rPr lang="ko-KR" altLang="en-US" sz="2000" b="1" kern="0" dirty="0">
                <a:solidFill>
                  <a:srgbClr val="002060"/>
                </a:solidFill>
              </a:rPr>
              <a:t>승인</a:t>
            </a:r>
            <a:endParaRPr lang="en-US" altLang="ko-KR" sz="2000" b="1" kern="0" dirty="0">
              <a:solidFill>
                <a:srgbClr val="002060"/>
              </a:solidFill>
            </a:endParaRPr>
          </a:p>
        </p:txBody>
      </p:sp>
      <p:grpSp>
        <p:nvGrpSpPr>
          <p:cNvPr id="57" name="그룹 56"/>
          <p:cNvGrpSpPr/>
          <p:nvPr/>
        </p:nvGrpSpPr>
        <p:grpSpPr>
          <a:xfrm>
            <a:off x="200615" y="2121314"/>
            <a:ext cx="1225908" cy="1413617"/>
            <a:chOff x="1077970" y="3667398"/>
            <a:chExt cx="1225908" cy="1413617"/>
          </a:xfrm>
        </p:grpSpPr>
        <p:pic>
          <p:nvPicPr>
            <p:cNvPr id="58" name="그림 5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0924" y="3667398"/>
              <a:ext cx="1080000" cy="1080000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668A711-A4E2-4B1E-8852-AD9349C2BCCB}"/>
                </a:ext>
              </a:extLst>
            </p:cNvPr>
            <p:cNvSpPr txBox="1"/>
            <p:nvPr/>
          </p:nvSpPr>
          <p:spPr>
            <a:xfrm>
              <a:off x="1077970" y="4747398"/>
              <a:ext cx="1225908" cy="3336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latinLnBrk="0">
                <a:lnSpc>
                  <a:spcPct val="150000"/>
                </a:lnSpc>
                <a:defRPr/>
              </a:pPr>
              <a:r>
                <a:rPr lang="ko-KR" altLang="en-US" sz="1200" b="1" kern="0" dirty="0" err="1">
                  <a:solidFill>
                    <a:srgbClr val="002060"/>
                  </a:solidFill>
                </a:rPr>
                <a:t>스타트업</a:t>
              </a:r>
              <a:endParaRPr lang="en-US" altLang="ko-KR" sz="1200" b="1" kern="0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60" name="그룹 59"/>
          <p:cNvGrpSpPr/>
          <p:nvPr/>
        </p:nvGrpSpPr>
        <p:grpSpPr>
          <a:xfrm>
            <a:off x="215009" y="3835285"/>
            <a:ext cx="1225908" cy="1413617"/>
            <a:chOff x="1077970" y="1920164"/>
            <a:chExt cx="1225908" cy="1413617"/>
          </a:xfrm>
        </p:grpSpPr>
        <p:pic>
          <p:nvPicPr>
            <p:cNvPr id="61" name="그림 60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0924" y="1920164"/>
              <a:ext cx="1080000" cy="1080000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668A711-A4E2-4B1E-8852-AD9349C2BCCB}"/>
                </a:ext>
              </a:extLst>
            </p:cNvPr>
            <p:cNvSpPr txBox="1"/>
            <p:nvPr/>
          </p:nvSpPr>
          <p:spPr>
            <a:xfrm>
              <a:off x="1077970" y="3000164"/>
              <a:ext cx="1225908" cy="3336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latinLnBrk="0">
                <a:lnSpc>
                  <a:spcPct val="150000"/>
                </a:lnSpc>
                <a:defRPr/>
              </a:pPr>
              <a:r>
                <a:rPr lang="ko-KR" altLang="en-US" sz="1200" b="1" kern="0" dirty="0">
                  <a:solidFill>
                    <a:srgbClr val="002060"/>
                  </a:solidFill>
                </a:rPr>
                <a:t>제조업체</a:t>
              </a:r>
              <a:endParaRPr lang="en-US" altLang="ko-KR" sz="1200" b="1" kern="0" dirty="0">
                <a:solidFill>
                  <a:srgbClr val="002060"/>
                </a:solidFill>
              </a:endParaRPr>
            </a:p>
          </p:txBody>
        </p:sp>
      </p:grpSp>
      <p:sp>
        <p:nvSpPr>
          <p:cNvPr id="3" name="타원 2"/>
          <p:cNvSpPr/>
          <p:nvPr/>
        </p:nvSpPr>
        <p:spPr>
          <a:xfrm>
            <a:off x="4044554" y="4407230"/>
            <a:ext cx="261256" cy="261256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2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7495027" y="4412691"/>
            <a:ext cx="261256" cy="261256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3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7543" y="2842586"/>
            <a:ext cx="684376" cy="684376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4594" y="3555631"/>
            <a:ext cx="685368" cy="685368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2327469" y="2808877"/>
            <a:ext cx="864524" cy="1452109"/>
          </a:xfrm>
          <a:prstGeom prst="rect">
            <a:avLst/>
          </a:prstGeom>
          <a:noFill/>
          <a:ln w="9525">
            <a:solidFill>
              <a:srgbClr val="0B48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3" name="직선 화살표 연결선 42"/>
          <p:cNvCxnSpPr>
            <a:stCxn id="13" idx="3"/>
            <a:endCxn id="23" idx="1"/>
          </p:cNvCxnSpPr>
          <p:nvPr/>
        </p:nvCxnSpPr>
        <p:spPr>
          <a:xfrm>
            <a:off x="3191993" y="3534932"/>
            <a:ext cx="450583" cy="1"/>
          </a:xfrm>
          <a:prstGeom prst="straightConnector1">
            <a:avLst/>
          </a:prstGeom>
          <a:ln w="25400">
            <a:solidFill>
              <a:srgbClr val="0B48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2007521" y="4363429"/>
            <a:ext cx="1724365" cy="33361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1200" b="1" kern="0" dirty="0" err="1">
                <a:solidFill>
                  <a:srgbClr val="002060"/>
                </a:solidFill>
              </a:rPr>
              <a:t>Oauth</a:t>
            </a:r>
            <a:r>
              <a:rPr lang="en-US" altLang="ko-KR" sz="1200" b="1" kern="0" dirty="0">
                <a:solidFill>
                  <a:srgbClr val="002060"/>
                </a:solidFill>
              </a:rPr>
              <a:t> </a:t>
            </a:r>
            <a:r>
              <a:rPr lang="ko-KR" altLang="en-US" sz="1200" b="1" kern="0" dirty="0">
                <a:solidFill>
                  <a:srgbClr val="002060"/>
                </a:solidFill>
              </a:rPr>
              <a:t>로그인</a:t>
            </a:r>
            <a:endParaRPr lang="en-US" altLang="ko-KR" sz="1200" b="1" kern="0" dirty="0">
              <a:solidFill>
                <a:srgbClr val="002060"/>
              </a:solidFill>
            </a:endParaRPr>
          </a:p>
        </p:txBody>
      </p:sp>
      <p:sp>
        <p:nvSpPr>
          <p:cNvPr id="45" name="타원 44"/>
          <p:cNvSpPr/>
          <p:nvPr/>
        </p:nvSpPr>
        <p:spPr>
          <a:xfrm>
            <a:off x="2046659" y="4422333"/>
            <a:ext cx="261256" cy="261256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1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5181826" y="6021901"/>
            <a:ext cx="1724365" cy="33361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1200" b="1" kern="0" dirty="0" err="1">
                <a:solidFill>
                  <a:srgbClr val="002060"/>
                </a:solidFill>
              </a:rPr>
              <a:t>인증완료</a:t>
            </a:r>
            <a:r>
              <a:rPr lang="ko-KR" altLang="en-US" sz="1200" b="1" kern="0" dirty="0">
                <a:solidFill>
                  <a:srgbClr val="002060"/>
                </a:solidFill>
              </a:rPr>
              <a:t> </a:t>
            </a:r>
            <a:r>
              <a:rPr lang="ko-KR" altLang="en-US" sz="1200" b="1" kern="0" dirty="0" err="1">
                <a:solidFill>
                  <a:srgbClr val="002060"/>
                </a:solidFill>
              </a:rPr>
              <a:t>메일발송</a:t>
            </a:r>
            <a:endParaRPr lang="en-US" altLang="ko-KR" sz="1200" b="1" kern="0" dirty="0">
              <a:solidFill>
                <a:srgbClr val="002060"/>
              </a:solidFill>
            </a:endParaRPr>
          </a:p>
        </p:txBody>
      </p:sp>
      <p:sp>
        <p:nvSpPr>
          <p:cNvPr id="50" name="타원 49"/>
          <p:cNvSpPr/>
          <p:nvPr/>
        </p:nvSpPr>
        <p:spPr>
          <a:xfrm>
            <a:off x="5084173" y="6079022"/>
            <a:ext cx="261256" cy="261256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4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7171" y="5063070"/>
            <a:ext cx="989395" cy="989395"/>
          </a:xfrm>
          <a:prstGeom prst="rect">
            <a:avLst/>
          </a:prstGeom>
        </p:spPr>
      </p:pic>
      <p:cxnSp>
        <p:nvCxnSpPr>
          <p:cNvPr id="51" name="꺾인 연결선 50"/>
          <p:cNvCxnSpPr>
            <a:stCxn id="38" idx="2"/>
            <a:endCxn id="28" idx="3"/>
          </p:cNvCxnSpPr>
          <p:nvPr/>
        </p:nvCxnSpPr>
        <p:spPr>
          <a:xfrm rot="5400000">
            <a:off x="8312880" y="2407056"/>
            <a:ext cx="1244399" cy="5057025"/>
          </a:xfrm>
          <a:prstGeom prst="bentConnector2">
            <a:avLst/>
          </a:prstGeom>
          <a:ln w="25400">
            <a:solidFill>
              <a:srgbClr val="0B48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꺾인 연결선 52"/>
          <p:cNvCxnSpPr>
            <a:stCxn id="28" idx="1"/>
            <a:endCxn id="62" idx="2"/>
          </p:cNvCxnSpPr>
          <p:nvPr/>
        </p:nvCxnSpPr>
        <p:spPr>
          <a:xfrm rot="10800000">
            <a:off x="827963" y="5248902"/>
            <a:ext cx="4589208" cy="308866"/>
          </a:xfrm>
          <a:prstGeom prst="bentConnector2">
            <a:avLst/>
          </a:prstGeom>
          <a:ln w="25400">
            <a:solidFill>
              <a:srgbClr val="0B48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3738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1"/>
            <a:ext cx="12192000" cy="933651"/>
          </a:xfrm>
          <a:prstGeom prst="rect">
            <a:avLst/>
          </a:prstGeom>
          <a:solidFill>
            <a:srgbClr val="0B4877"/>
          </a:solidFill>
          <a:ln w="25400">
            <a:noFill/>
          </a:ln>
          <a:effectLst>
            <a:outerShdw dist="50800" dir="5400000" algn="t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4000" b="1" i="1" kern="0" dirty="0">
                <a:solidFill>
                  <a:prstClr val="white">
                    <a:lumMod val="95000"/>
                  </a:prstClr>
                </a:solidFill>
              </a:rPr>
              <a:t>시스템 주요기능</a:t>
            </a:r>
            <a:endParaRPr lang="en-US" altLang="ko-KR" sz="4000" b="1" i="1" kern="0" dirty="0">
              <a:solidFill>
                <a:prstClr val="white">
                  <a:lumMod val="95000"/>
                </a:prstClr>
              </a:solidFill>
            </a:endParaRPr>
          </a:p>
        </p:txBody>
      </p:sp>
      <p:cxnSp>
        <p:nvCxnSpPr>
          <p:cNvPr id="41" name="직선 화살표 연결선 40"/>
          <p:cNvCxnSpPr>
            <a:stCxn id="58" idx="3"/>
            <a:endCxn id="35" idx="1"/>
          </p:cNvCxnSpPr>
          <p:nvPr/>
        </p:nvCxnSpPr>
        <p:spPr>
          <a:xfrm>
            <a:off x="2213718" y="2993513"/>
            <a:ext cx="644650" cy="462"/>
          </a:xfrm>
          <a:prstGeom prst="straightConnector1">
            <a:avLst/>
          </a:prstGeom>
          <a:ln w="25400">
            <a:solidFill>
              <a:srgbClr val="0B48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그룹 56"/>
          <p:cNvGrpSpPr/>
          <p:nvPr/>
        </p:nvGrpSpPr>
        <p:grpSpPr>
          <a:xfrm>
            <a:off x="1060764" y="2453513"/>
            <a:ext cx="1225908" cy="1413617"/>
            <a:chOff x="1077970" y="3667398"/>
            <a:chExt cx="1225908" cy="1413617"/>
          </a:xfrm>
        </p:grpSpPr>
        <p:pic>
          <p:nvPicPr>
            <p:cNvPr id="58" name="그림 5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0924" y="3667398"/>
              <a:ext cx="1080000" cy="1080000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668A711-A4E2-4B1E-8852-AD9349C2BCCB}"/>
                </a:ext>
              </a:extLst>
            </p:cNvPr>
            <p:cNvSpPr txBox="1"/>
            <p:nvPr/>
          </p:nvSpPr>
          <p:spPr>
            <a:xfrm>
              <a:off x="1077970" y="4747398"/>
              <a:ext cx="1225908" cy="3336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latinLnBrk="0">
                <a:lnSpc>
                  <a:spcPct val="150000"/>
                </a:lnSpc>
                <a:defRPr/>
              </a:pPr>
              <a:r>
                <a:rPr lang="ko-KR" altLang="en-US" sz="1200" b="1" kern="0" dirty="0" err="1">
                  <a:solidFill>
                    <a:srgbClr val="002060"/>
                  </a:solidFill>
                </a:rPr>
                <a:t>스타트업</a:t>
              </a:r>
              <a:endParaRPr lang="en-US" altLang="ko-KR" sz="1200" b="1" kern="0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60" name="그룹 59"/>
          <p:cNvGrpSpPr/>
          <p:nvPr/>
        </p:nvGrpSpPr>
        <p:grpSpPr>
          <a:xfrm>
            <a:off x="10489260" y="2453513"/>
            <a:ext cx="1225908" cy="1413617"/>
            <a:chOff x="1077970" y="1920164"/>
            <a:chExt cx="1225908" cy="1413617"/>
          </a:xfrm>
        </p:grpSpPr>
        <p:pic>
          <p:nvPicPr>
            <p:cNvPr id="61" name="그림 6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0924" y="1920164"/>
              <a:ext cx="1080000" cy="1080000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668A711-A4E2-4B1E-8852-AD9349C2BCCB}"/>
                </a:ext>
              </a:extLst>
            </p:cNvPr>
            <p:cNvSpPr txBox="1"/>
            <p:nvPr/>
          </p:nvSpPr>
          <p:spPr>
            <a:xfrm>
              <a:off x="1077970" y="3000164"/>
              <a:ext cx="1225908" cy="3336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latinLnBrk="0">
                <a:lnSpc>
                  <a:spcPct val="150000"/>
                </a:lnSpc>
                <a:defRPr/>
              </a:pPr>
              <a:r>
                <a:rPr lang="ko-KR" altLang="en-US" sz="1200" b="1" kern="0" dirty="0">
                  <a:solidFill>
                    <a:srgbClr val="002060"/>
                  </a:solidFill>
                </a:rPr>
                <a:t>제조업체</a:t>
              </a:r>
              <a:endParaRPr lang="en-US" altLang="ko-KR" sz="1200" b="1" kern="0" dirty="0">
                <a:solidFill>
                  <a:srgbClr val="002060"/>
                </a:solidFill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3231106" y="3758230"/>
            <a:ext cx="2223107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1200" b="1" kern="0" dirty="0">
                <a:solidFill>
                  <a:srgbClr val="002060"/>
                </a:solidFill>
              </a:rPr>
              <a:t>프로젝트 등록</a:t>
            </a:r>
            <a:endParaRPr lang="en-US" altLang="ko-KR" sz="1200" b="1" kern="0" dirty="0">
              <a:solidFill>
                <a:srgbClr val="00206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7632170" y="3758230"/>
            <a:ext cx="2223107" cy="33361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1200" b="1" kern="0" dirty="0">
                <a:solidFill>
                  <a:srgbClr val="002060"/>
                </a:solidFill>
              </a:rPr>
              <a:t>프로젝트 매칭 요청</a:t>
            </a:r>
            <a:endParaRPr lang="en-US" altLang="ko-KR" sz="1200" b="1" kern="0" dirty="0">
              <a:solidFill>
                <a:srgbClr val="002060"/>
              </a:solidFill>
            </a:endParaRPr>
          </a:p>
        </p:txBody>
      </p:sp>
      <p:sp>
        <p:nvSpPr>
          <p:cNvPr id="63" name="타원 62"/>
          <p:cNvSpPr/>
          <p:nvPr/>
        </p:nvSpPr>
        <p:spPr>
          <a:xfrm>
            <a:off x="3523475" y="3800021"/>
            <a:ext cx="261256" cy="261256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1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64" name="타원 63"/>
          <p:cNvSpPr/>
          <p:nvPr/>
        </p:nvSpPr>
        <p:spPr>
          <a:xfrm>
            <a:off x="7762798" y="3789273"/>
            <a:ext cx="261256" cy="261256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2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8368" y="2266183"/>
            <a:ext cx="2894957" cy="1455584"/>
          </a:xfrm>
          <a:prstGeom prst="rect">
            <a:avLst/>
          </a:prstGeom>
          <a:ln w="9525">
            <a:solidFill>
              <a:schemeClr val="accent1"/>
            </a:solidFill>
          </a:ln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5561" y="2266183"/>
            <a:ext cx="2894957" cy="146737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39" name="직선 화살표 연결선 38"/>
          <p:cNvCxnSpPr>
            <a:stCxn id="61" idx="1"/>
            <a:endCxn id="14" idx="3"/>
          </p:cNvCxnSpPr>
          <p:nvPr/>
        </p:nvCxnSpPr>
        <p:spPr>
          <a:xfrm flipH="1">
            <a:off x="9990518" y="2993513"/>
            <a:ext cx="571696" cy="6359"/>
          </a:xfrm>
          <a:prstGeom prst="straightConnector1">
            <a:avLst/>
          </a:prstGeom>
          <a:ln w="25400">
            <a:solidFill>
              <a:srgbClr val="0B48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>
            <a:stCxn id="14" idx="1"/>
            <a:endCxn id="35" idx="3"/>
          </p:cNvCxnSpPr>
          <p:nvPr/>
        </p:nvCxnSpPr>
        <p:spPr>
          <a:xfrm flipH="1" flipV="1">
            <a:off x="5753325" y="2993975"/>
            <a:ext cx="1342236" cy="5897"/>
          </a:xfrm>
          <a:prstGeom prst="straightConnector1">
            <a:avLst/>
          </a:prstGeom>
          <a:ln w="25400">
            <a:solidFill>
              <a:srgbClr val="0B48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꺾인 연결선 45"/>
          <p:cNvCxnSpPr>
            <a:stCxn id="59" idx="2"/>
            <a:endCxn id="38" idx="1"/>
          </p:cNvCxnSpPr>
          <p:nvPr/>
        </p:nvCxnSpPr>
        <p:spPr>
          <a:xfrm rot="16200000" flipH="1">
            <a:off x="2627710" y="2913138"/>
            <a:ext cx="1275473" cy="3183456"/>
          </a:xfrm>
          <a:prstGeom prst="bentConnector2">
            <a:avLst/>
          </a:prstGeom>
          <a:ln w="25400">
            <a:solidFill>
              <a:srgbClr val="0B48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그룹 48"/>
          <p:cNvGrpSpPr/>
          <p:nvPr/>
        </p:nvGrpSpPr>
        <p:grpSpPr>
          <a:xfrm>
            <a:off x="5133119" y="5904671"/>
            <a:ext cx="2353735" cy="333617"/>
            <a:chOff x="5067804" y="5904671"/>
            <a:chExt cx="2353735" cy="333617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668A711-A4E2-4B1E-8852-AD9349C2BCCB}"/>
                </a:ext>
              </a:extLst>
            </p:cNvPr>
            <p:cNvSpPr txBox="1"/>
            <p:nvPr/>
          </p:nvSpPr>
          <p:spPr>
            <a:xfrm>
              <a:off x="5198432" y="5904671"/>
              <a:ext cx="2223107" cy="3336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 latinLnBrk="0">
                <a:lnSpc>
                  <a:spcPct val="150000"/>
                </a:lnSpc>
                <a:defRPr/>
              </a:pPr>
              <a:r>
                <a:rPr lang="ko-KR" altLang="en-US" sz="1200" b="1" kern="0" dirty="0">
                  <a:solidFill>
                    <a:srgbClr val="002060"/>
                  </a:solidFill>
                </a:rPr>
                <a:t>매칭 완료 후 계약서 작성</a:t>
              </a:r>
              <a:endParaRPr lang="en-US" altLang="ko-KR" sz="1200" b="1" kern="0" dirty="0">
                <a:solidFill>
                  <a:srgbClr val="002060"/>
                </a:solidFill>
              </a:endParaRPr>
            </a:p>
          </p:txBody>
        </p:sp>
        <p:sp>
          <p:nvSpPr>
            <p:cNvPr id="53" name="타원 52"/>
            <p:cNvSpPr/>
            <p:nvPr/>
          </p:nvSpPr>
          <p:spPr>
            <a:xfrm>
              <a:off x="5067804" y="5940851"/>
              <a:ext cx="261256" cy="261256"/>
            </a:xfrm>
            <a:prstGeom prst="ellipse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</a:rPr>
                <a:t>3</a:t>
              </a:r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65" name="꺾인 연결선 64"/>
          <p:cNvCxnSpPr>
            <a:stCxn id="38" idx="3"/>
            <a:endCxn id="62" idx="2"/>
          </p:cNvCxnSpPr>
          <p:nvPr/>
        </p:nvCxnSpPr>
        <p:spPr>
          <a:xfrm flipV="1">
            <a:off x="7762798" y="3867130"/>
            <a:ext cx="3339416" cy="1275473"/>
          </a:xfrm>
          <a:prstGeom prst="bentConnector2">
            <a:avLst/>
          </a:prstGeom>
          <a:ln w="25400">
            <a:solidFill>
              <a:srgbClr val="0B48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그림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174" y="4412413"/>
            <a:ext cx="2905624" cy="1460379"/>
          </a:xfrm>
          <a:prstGeom prst="rect">
            <a:avLst/>
          </a:prstGeom>
          <a:ln>
            <a:solidFill>
              <a:srgbClr val="0B4877"/>
            </a:solidFill>
          </a:ln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0" y="1041500"/>
            <a:ext cx="4007315" cy="49449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000" b="1" kern="0" dirty="0">
                <a:solidFill>
                  <a:srgbClr val="002060"/>
                </a:solidFill>
              </a:rPr>
              <a:t>2. </a:t>
            </a:r>
            <a:r>
              <a:rPr lang="ko-KR" altLang="en-US" sz="2000" b="1" kern="0" dirty="0" err="1">
                <a:solidFill>
                  <a:srgbClr val="002060"/>
                </a:solidFill>
              </a:rPr>
              <a:t>스타트업</a:t>
            </a:r>
            <a:r>
              <a:rPr lang="en-US" altLang="ko-KR" sz="2000" b="1" kern="0" dirty="0">
                <a:solidFill>
                  <a:srgbClr val="002060"/>
                </a:solidFill>
              </a:rPr>
              <a:t>-</a:t>
            </a:r>
            <a:r>
              <a:rPr lang="ko-KR" altLang="en-US" sz="2000" b="1" kern="0" dirty="0">
                <a:solidFill>
                  <a:srgbClr val="002060"/>
                </a:solidFill>
              </a:rPr>
              <a:t>제조업체 간 매칭</a:t>
            </a:r>
            <a:r>
              <a:rPr lang="en-US" altLang="ko-KR" sz="2000" b="1" kern="0" dirty="0">
                <a:solidFill>
                  <a:srgbClr val="002060"/>
                </a:solidFill>
              </a:rPr>
              <a:t>(1)</a:t>
            </a:r>
          </a:p>
        </p:txBody>
      </p:sp>
    </p:spTree>
    <p:extLst>
      <p:ext uri="{BB962C8B-B14F-4D97-AF65-F5344CB8AC3E}">
        <p14:creationId xmlns:p14="http://schemas.microsoft.com/office/powerpoint/2010/main" val="1854430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1"/>
            <a:ext cx="12192000" cy="933651"/>
          </a:xfrm>
          <a:prstGeom prst="rect">
            <a:avLst/>
          </a:prstGeom>
          <a:solidFill>
            <a:srgbClr val="0B4877"/>
          </a:solidFill>
          <a:ln w="25400">
            <a:noFill/>
          </a:ln>
          <a:effectLst>
            <a:outerShdw dist="50800" dir="5400000" algn="t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4000" b="1" i="1" kern="0" dirty="0">
                <a:solidFill>
                  <a:prstClr val="white">
                    <a:lumMod val="95000"/>
                  </a:prstClr>
                </a:solidFill>
              </a:rPr>
              <a:t>시스템 주요기능</a:t>
            </a:r>
            <a:endParaRPr lang="en-US" altLang="ko-KR" sz="4000" b="1" i="1" kern="0" dirty="0">
              <a:solidFill>
                <a:prstClr val="white">
                  <a:lumMod val="95000"/>
                </a:prstClr>
              </a:solidFill>
            </a:endParaRPr>
          </a:p>
        </p:txBody>
      </p:sp>
      <p:grpSp>
        <p:nvGrpSpPr>
          <p:cNvPr id="57" name="그룹 56"/>
          <p:cNvGrpSpPr/>
          <p:nvPr/>
        </p:nvGrpSpPr>
        <p:grpSpPr>
          <a:xfrm>
            <a:off x="1060764" y="2448237"/>
            <a:ext cx="1225908" cy="1413617"/>
            <a:chOff x="1077970" y="3667398"/>
            <a:chExt cx="1225908" cy="1413617"/>
          </a:xfrm>
        </p:grpSpPr>
        <p:pic>
          <p:nvPicPr>
            <p:cNvPr id="58" name="그림 5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0924" y="3667398"/>
              <a:ext cx="1080000" cy="1080000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668A711-A4E2-4B1E-8852-AD9349C2BCCB}"/>
                </a:ext>
              </a:extLst>
            </p:cNvPr>
            <p:cNvSpPr txBox="1"/>
            <p:nvPr/>
          </p:nvSpPr>
          <p:spPr>
            <a:xfrm>
              <a:off x="1077970" y="4747398"/>
              <a:ext cx="1225908" cy="3336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latinLnBrk="0">
                <a:lnSpc>
                  <a:spcPct val="150000"/>
                </a:lnSpc>
                <a:defRPr/>
              </a:pPr>
              <a:r>
                <a:rPr lang="ko-KR" altLang="en-US" sz="1200" b="1" kern="0" dirty="0" err="1">
                  <a:solidFill>
                    <a:srgbClr val="002060"/>
                  </a:solidFill>
                </a:rPr>
                <a:t>스타트업</a:t>
              </a:r>
              <a:endParaRPr lang="en-US" altLang="ko-KR" sz="1200" b="1" kern="0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60" name="그룹 59"/>
          <p:cNvGrpSpPr/>
          <p:nvPr/>
        </p:nvGrpSpPr>
        <p:grpSpPr>
          <a:xfrm>
            <a:off x="10196556" y="2421342"/>
            <a:ext cx="1225908" cy="1413617"/>
            <a:chOff x="1077970" y="1920164"/>
            <a:chExt cx="1225908" cy="1413617"/>
          </a:xfrm>
        </p:grpSpPr>
        <p:pic>
          <p:nvPicPr>
            <p:cNvPr id="61" name="그림 6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0924" y="1920164"/>
              <a:ext cx="1080000" cy="1080000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668A711-A4E2-4B1E-8852-AD9349C2BCCB}"/>
                </a:ext>
              </a:extLst>
            </p:cNvPr>
            <p:cNvSpPr txBox="1"/>
            <p:nvPr/>
          </p:nvSpPr>
          <p:spPr>
            <a:xfrm>
              <a:off x="1077970" y="3000164"/>
              <a:ext cx="1225908" cy="3336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latinLnBrk="0">
                <a:lnSpc>
                  <a:spcPct val="150000"/>
                </a:lnSpc>
                <a:defRPr/>
              </a:pPr>
              <a:r>
                <a:rPr lang="ko-KR" altLang="en-US" sz="1200" b="1" kern="0" dirty="0">
                  <a:solidFill>
                    <a:srgbClr val="002060"/>
                  </a:solidFill>
                </a:rPr>
                <a:t>제조업체</a:t>
              </a:r>
              <a:endParaRPr lang="en-US" altLang="ko-KR" sz="1200" b="1" kern="0" dirty="0">
                <a:solidFill>
                  <a:srgbClr val="002060"/>
                </a:solidFill>
              </a:endParaRPr>
            </a:p>
          </p:txBody>
        </p:sp>
      </p:grpSp>
      <p:cxnSp>
        <p:nvCxnSpPr>
          <p:cNvPr id="39" name="직선 화살표 연결선 38"/>
          <p:cNvCxnSpPr>
            <a:stCxn id="58" idx="3"/>
            <a:endCxn id="2" idx="1"/>
          </p:cNvCxnSpPr>
          <p:nvPr/>
        </p:nvCxnSpPr>
        <p:spPr>
          <a:xfrm flipV="1">
            <a:off x="2213718" y="2974313"/>
            <a:ext cx="2319196" cy="13924"/>
          </a:xfrm>
          <a:prstGeom prst="straightConnector1">
            <a:avLst/>
          </a:prstGeom>
          <a:ln w="25400">
            <a:solidFill>
              <a:srgbClr val="0B48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>
            <a:stCxn id="61" idx="1"/>
            <a:endCxn id="2" idx="3"/>
          </p:cNvCxnSpPr>
          <p:nvPr/>
        </p:nvCxnSpPr>
        <p:spPr>
          <a:xfrm flipH="1">
            <a:off x="7427871" y="2961342"/>
            <a:ext cx="2841639" cy="12971"/>
          </a:xfrm>
          <a:prstGeom prst="straightConnector1">
            <a:avLst/>
          </a:prstGeom>
          <a:ln w="25400">
            <a:solidFill>
              <a:srgbClr val="0B48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그룹 21"/>
          <p:cNvGrpSpPr/>
          <p:nvPr/>
        </p:nvGrpSpPr>
        <p:grpSpPr>
          <a:xfrm>
            <a:off x="4532914" y="2246521"/>
            <a:ext cx="2894957" cy="1799118"/>
            <a:chOff x="4532914" y="2246521"/>
            <a:chExt cx="2894957" cy="1799118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32914" y="2246521"/>
              <a:ext cx="2894957" cy="1455584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668A711-A4E2-4B1E-8852-AD9349C2BCCB}"/>
                </a:ext>
              </a:extLst>
            </p:cNvPr>
            <p:cNvSpPr txBox="1"/>
            <p:nvPr/>
          </p:nvSpPr>
          <p:spPr>
            <a:xfrm>
              <a:off x="5055357" y="3712022"/>
              <a:ext cx="2223107" cy="3336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 latinLnBrk="0">
                <a:lnSpc>
                  <a:spcPct val="150000"/>
                </a:lnSpc>
                <a:defRPr/>
              </a:pPr>
              <a:r>
                <a:rPr lang="ko-KR" altLang="en-US" sz="1200" b="1" kern="0" dirty="0">
                  <a:solidFill>
                    <a:srgbClr val="002060"/>
                  </a:solidFill>
                </a:rPr>
                <a:t>작성된 계약서 제조업체 확인</a:t>
              </a:r>
              <a:endParaRPr lang="en-US" altLang="ko-KR" sz="1200" b="1" kern="0" dirty="0">
                <a:solidFill>
                  <a:srgbClr val="002060"/>
                </a:solidFill>
              </a:endParaRPr>
            </a:p>
          </p:txBody>
        </p:sp>
        <p:sp>
          <p:nvSpPr>
            <p:cNvPr id="37" name="타원 36"/>
            <p:cNvSpPr/>
            <p:nvPr/>
          </p:nvSpPr>
          <p:spPr>
            <a:xfrm>
              <a:off x="4828876" y="3784062"/>
              <a:ext cx="261256" cy="261256"/>
            </a:xfrm>
            <a:prstGeom prst="ellipse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</a:rPr>
                <a:t>1</a:t>
              </a:r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16" name="그림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1879" y="4706103"/>
            <a:ext cx="2909913" cy="1462534"/>
          </a:xfrm>
          <a:prstGeom prst="rect">
            <a:avLst/>
          </a:prstGeom>
          <a:ln>
            <a:solidFill>
              <a:srgbClr val="0B4877"/>
            </a:solidFill>
          </a:ln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5072203" y="6195194"/>
            <a:ext cx="2223107" cy="33361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1200" b="1" kern="0" dirty="0">
                <a:solidFill>
                  <a:srgbClr val="002060"/>
                </a:solidFill>
              </a:rPr>
              <a:t>계약성사 후 계약서 다운로드</a:t>
            </a:r>
            <a:endParaRPr lang="en-US" altLang="ko-KR" sz="1200" b="1" kern="0" dirty="0">
              <a:solidFill>
                <a:srgbClr val="002060"/>
              </a:solidFill>
            </a:endParaRPr>
          </a:p>
        </p:txBody>
      </p:sp>
      <p:sp>
        <p:nvSpPr>
          <p:cNvPr id="68" name="타원 67"/>
          <p:cNvSpPr/>
          <p:nvPr/>
        </p:nvSpPr>
        <p:spPr>
          <a:xfrm>
            <a:off x="4845722" y="6267234"/>
            <a:ext cx="261256" cy="261256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2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69" name="직선 화살표 연결선 68"/>
          <p:cNvCxnSpPr>
            <a:endCxn id="16" idx="0"/>
          </p:cNvCxnSpPr>
          <p:nvPr/>
        </p:nvCxnSpPr>
        <p:spPr>
          <a:xfrm flipH="1">
            <a:off x="5996836" y="4045318"/>
            <a:ext cx="553" cy="660785"/>
          </a:xfrm>
          <a:prstGeom prst="straightConnector1">
            <a:avLst/>
          </a:prstGeom>
          <a:ln w="25400">
            <a:solidFill>
              <a:srgbClr val="0B48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0" y="1036087"/>
            <a:ext cx="4007315" cy="49449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000" b="1" kern="0" dirty="0">
                <a:solidFill>
                  <a:srgbClr val="002060"/>
                </a:solidFill>
              </a:rPr>
              <a:t>2. </a:t>
            </a:r>
            <a:r>
              <a:rPr lang="ko-KR" altLang="en-US" sz="2000" b="1" kern="0" dirty="0" err="1">
                <a:solidFill>
                  <a:srgbClr val="002060"/>
                </a:solidFill>
              </a:rPr>
              <a:t>스타트업</a:t>
            </a:r>
            <a:r>
              <a:rPr lang="en-US" altLang="ko-KR" sz="2000" b="1" kern="0" dirty="0">
                <a:solidFill>
                  <a:srgbClr val="002060"/>
                </a:solidFill>
              </a:rPr>
              <a:t>-</a:t>
            </a:r>
            <a:r>
              <a:rPr lang="ko-KR" altLang="en-US" sz="2000" b="1" kern="0" dirty="0">
                <a:solidFill>
                  <a:srgbClr val="002060"/>
                </a:solidFill>
              </a:rPr>
              <a:t>제조업체 간 매칭</a:t>
            </a:r>
            <a:r>
              <a:rPr lang="en-US" altLang="ko-KR" sz="2000" b="1" kern="0" dirty="0">
                <a:solidFill>
                  <a:srgbClr val="002060"/>
                </a:solidFill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986422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1"/>
            <a:ext cx="12192000" cy="933651"/>
          </a:xfrm>
          <a:prstGeom prst="rect">
            <a:avLst/>
          </a:prstGeom>
          <a:solidFill>
            <a:srgbClr val="0B4877"/>
          </a:solidFill>
          <a:ln w="25400">
            <a:noFill/>
          </a:ln>
          <a:effectLst>
            <a:outerShdw dist="50800" dir="5400000" algn="t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4000" b="1" i="1" kern="0" dirty="0">
                <a:solidFill>
                  <a:prstClr val="white">
                    <a:lumMod val="95000"/>
                  </a:prstClr>
                </a:solidFill>
              </a:rPr>
              <a:t>시스템 </a:t>
            </a:r>
            <a:r>
              <a:rPr lang="ko-KR" altLang="en-US" sz="4000" b="1" i="1" kern="0" dirty="0" err="1">
                <a:solidFill>
                  <a:prstClr val="white">
                    <a:lumMod val="95000"/>
                  </a:prstClr>
                </a:solidFill>
              </a:rPr>
              <a:t>일반기능</a:t>
            </a:r>
            <a:endParaRPr lang="en-US" altLang="ko-KR" sz="4000" b="1" i="1" kern="0" dirty="0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8532813" y="3304072"/>
            <a:ext cx="1247775" cy="4542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b="1" kern="0" dirty="0">
                <a:solidFill>
                  <a:srgbClr val="002060"/>
                </a:solidFill>
              </a:rPr>
              <a:t>공지사항</a:t>
            </a:r>
            <a:endParaRPr lang="en-US" altLang="ko-KR" b="1" kern="0" dirty="0">
              <a:solidFill>
                <a:srgbClr val="002060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0" y="1291122"/>
            <a:ext cx="4025900" cy="2012950"/>
          </a:xfrm>
          <a:prstGeom prst="rect">
            <a:avLst/>
          </a:prstGeom>
          <a:ln>
            <a:solidFill>
              <a:srgbClr val="0B4877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250" y="4051410"/>
            <a:ext cx="4025900" cy="2012950"/>
          </a:xfrm>
          <a:prstGeom prst="rect">
            <a:avLst/>
          </a:prstGeom>
          <a:ln>
            <a:solidFill>
              <a:srgbClr val="0B4877"/>
            </a:solidFill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8532813" y="6064360"/>
            <a:ext cx="1247775" cy="4542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b="1" kern="0" dirty="0" err="1">
                <a:solidFill>
                  <a:srgbClr val="002060"/>
                </a:solidFill>
              </a:rPr>
              <a:t>서명관리</a:t>
            </a:r>
            <a:endParaRPr lang="en-US" altLang="ko-KR" b="1" kern="0" dirty="0">
              <a:solidFill>
                <a:srgbClr val="00206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2627313" y="6064360"/>
            <a:ext cx="1247775" cy="4542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b="1" kern="0" dirty="0">
                <a:solidFill>
                  <a:srgbClr val="002060"/>
                </a:solidFill>
              </a:rPr>
              <a:t>정보관리</a:t>
            </a:r>
            <a:endParaRPr lang="en-US" altLang="ko-KR" b="1" kern="0" dirty="0">
              <a:solidFill>
                <a:srgbClr val="002060"/>
              </a:solidFill>
            </a:endParaRPr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0" y="4051410"/>
            <a:ext cx="4025900" cy="2012950"/>
          </a:xfrm>
          <a:prstGeom prst="rect">
            <a:avLst/>
          </a:prstGeom>
          <a:ln>
            <a:solidFill>
              <a:srgbClr val="0B4877"/>
            </a:solidFill>
          </a:ln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2627313" y="3304072"/>
            <a:ext cx="1247775" cy="4542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b="1" kern="0" dirty="0">
                <a:solidFill>
                  <a:srgbClr val="002060"/>
                </a:solidFill>
              </a:rPr>
              <a:t>기업정보</a:t>
            </a:r>
            <a:endParaRPr lang="en-US" altLang="ko-KR" b="1" kern="0" dirty="0">
              <a:solidFill>
                <a:srgbClr val="002060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6"/>
          <a:srcRect t="686" b="1"/>
          <a:stretch/>
        </p:blipFill>
        <p:spPr>
          <a:xfrm>
            <a:off x="1238250" y="1291122"/>
            <a:ext cx="4025900" cy="2012950"/>
          </a:xfrm>
          <a:prstGeom prst="rect">
            <a:avLst/>
          </a:prstGeom>
          <a:ln>
            <a:solidFill>
              <a:srgbClr val="0B4877"/>
            </a:solidFill>
          </a:ln>
        </p:spPr>
      </p:pic>
    </p:spTree>
    <p:extLst>
      <p:ext uri="{BB962C8B-B14F-4D97-AF65-F5344CB8AC3E}">
        <p14:creationId xmlns:p14="http://schemas.microsoft.com/office/powerpoint/2010/main" val="808942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1"/>
            <a:ext cx="12192000" cy="933651"/>
          </a:xfrm>
          <a:prstGeom prst="rect">
            <a:avLst/>
          </a:prstGeom>
          <a:solidFill>
            <a:srgbClr val="0B4877"/>
          </a:solidFill>
          <a:ln w="25400">
            <a:noFill/>
          </a:ln>
          <a:effectLst>
            <a:outerShdw dist="50800" dir="5400000" algn="t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4000" b="1" i="1" kern="0" dirty="0">
                <a:solidFill>
                  <a:prstClr val="white">
                    <a:lumMod val="95000"/>
                  </a:prstClr>
                </a:solidFill>
              </a:rPr>
              <a:t>구현 상세</a:t>
            </a:r>
            <a:endParaRPr lang="en-US" altLang="ko-KR" sz="4000" b="1" i="1" kern="0" dirty="0">
              <a:solidFill>
                <a:prstClr val="white">
                  <a:lumMod val="95000"/>
                </a:prstClr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0CCA308-623F-4860-BABE-93F531DA84E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0866" y="1089370"/>
            <a:ext cx="3809997" cy="209295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44660FE-FE00-4868-B100-8D2E313ABEC8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52392" y="3539552"/>
            <a:ext cx="3439892" cy="189647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A3A1BAE-49A2-4D4F-B7AF-69D508EC920C}"/>
              </a:ext>
            </a:extLst>
          </p:cNvPr>
          <p:cNvSpPr txBox="1"/>
          <p:nvPr/>
        </p:nvSpPr>
        <p:spPr>
          <a:xfrm>
            <a:off x="59097" y="5858110"/>
            <a:ext cx="35331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ko-KR" sz="1400" spc="-22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통합관리자 회원관리 리스트에서 검색기능과 </a:t>
            </a:r>
            <a:endParaRPr lang="en-US" altLang="ko-KR" sz="1400" spc="-22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ko-KR" altLang="ko-KR" sz="1400" spc="-220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페이징처리</a:t>
            </a:r>
            <a:r>
              <a:rPr lang="ko-KR" altLang="ko-KR" sz="1400" spc="-22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구현</a:t>
            </a:r>
            <a:endParaRPr lang="ko-KR" altLang="en-US" sz="14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93F696F-C4DF-471F-8A72-CF54D0D4511A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4039052" y="1079453"/>
            <a:ext cx="3668034" cy="210287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45DB7A7-32D0-44B8-A93A-3E0AB2509F47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4173345" y="3539552"/>
            <a:ext cx="3438766" cy="195459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633780A-E6E3-4D51-BE68-D156A75A69C0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7967946" y="1079453"/>
            <a:ext cx="3816618" cy="210287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641E51D-69D9-41DC-ADDF-AECB18812208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>
            <a:off x="7930255" y="3413147"/>
            <a:ext cx="3602382" cy="229718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E36EEAD-8C2B-45BE-B840-F04477E3AB4D}"/>
              </a:ext>
            </a:extLst>
          </p:cNvPr>
          <p:cNvSpPr txBox="1"/>
          <p:nvPr/>
        </p:nvSpPr>
        <p:spPr>
          <a:xfrm>
            <a:off x="4931400" y="5965831"/>
            <a:ext cx="19226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spc="-22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관리자 통계페이지 구현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00CAC8-10BC-45F6-AD0F-6BA4F7AF3FEE}"/>
              </a:ext>
            </a:extLst>
          </p:cNvPr>
          <p:cNvSpPr txBox="1"/>
          <p:nvPr/>
        </p:nvSpPr>
        <p:spPr>
          <a:xfrm>
            <a:off x="8452769" y="5965831"/>
            <a:ext cx="36023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spc="-22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회원 활성화 시 메일발송 시스템 구현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828161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1"/>
            <a:ext cx="12192000" cy="933651"/>
          </a:xfrm>
          <a:prstGeom prst="rect">
            <a:avLst/>
          </a:prstGeom>
          <a:solidFill>
            <a:srgbClr val="0B4877"/>
          </a:solidFill>
          <a:ln w="25400">
            <a:noFill/>
          </a:ln>
          <a:effectLst>
            <a:outerShdw dist="50800" dir="5400000" algn="t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4000" b="1" i="1" kern="0" dirty="0">
                <a:solidFill>
                  <a:prstClr val="white">
                    <a:lumMod val="95000"/>
                  </a:prstClr>
                </a:solidFill>
              </a:rPr>
              <a:t>시스템 확장성</a:t>
            </a:r>
            <a:endParaRPr lang="en-US" altLang="ko-KR" sz="4000" b="1" i="1" kern="0" dirty="0">
              <a:solidFill>
                <a:prstClr val="white">
                  <a:lumMod val="95000"/>
                </a:prstClr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177" y="4905994"/>
            <a:ext cx="1440000" cy="14400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177" y="1234639"/>
            <a:ext cx="1440000" cy="14400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177" y="3070316"/>
            <a:ext cx="1440000" cy="1440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4452647" y="1667156"/>
            <a:ext cx="5808233" cy="57496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ko-KR" altLang="en-US" sz="2400" b="1" kern="0" dirty="0" err="1">
                <a:solidFill>
                  <a:srgbClr val="002060"/>
                </a:solidFill>
              </a:rPr>
              <a:t>블록체인을</a:t>
            </a:r>
            <a:r>
              <a:rPr lang="ko-KR" altLang="en-US" sz="2400" b="1" kern="0" dirty="0">
                <a:solidFill>
                  <a:srgbClr val="002060"/>
                </a:solidFill>
              </a:rPr>
              <a:t> 통한 전자 계약서 보안 강화</a:t>
            </a:r>
            <a:endParaRPr lang="en-US" altLang="ko-KR" sz="2400" b="1" kern="0" dirty="0">
              <a:solidFill>
                <a:srgbClr val="00206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4452646" y="3502833"/>
            <a:ext cx="5808233" cy="57496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ko-KR" altLang="en-US" sz="2400" b="1" kern="0">
                <a:solidFill>
                  <a:srgbClr val="002060"/>
                </a:solidFill>
              </a:rPr>
              <a:t>기업 포트폴리오를 통한 정보성 </a:t>
            </a:r>
            <a:r>
              <a:rPr lang="ko-KR" altLang="en-US" sz="2400" b="1" kern="0" dirty="0">
                <a:solidFill>
                  <a:srgbClr val="002060"/>
                </a:solidFill>
              </a:rPr>
              <a:t>확장 </a:t>
            </a:r>
            <a:endParaRPr lang="en-US" altLang="ko-KR" sz="2400" b="1" kern="0" dirty="0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4452646" y="5338510"/>
            <a:ext cx="5808233" cy="57496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ko-KR" altLang="en-US" sz="2400" b="1" kern="0" dirty="0">
                <a:solidFill>
                  <a:srgbClr val="002060"/>
                </a:solidFill>
              </a:rPr>
              <a:t>기업 평가 시스템 확대 가능</a:t>
            </a:r>
            <a:endParaRPr lang="en-US" altLang="ko-KR" sz="2400" b="1" kern="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7088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pattFill prst="lgGrid">
            <a:fgClr>
              <a:srgbClr val="0D568D"/>
            </a:fgClr>
            <a:bgClr>
              <a:srgbClr val="0B4877"/>
            </a:bgClr>
          </a:pattFill>
          <a:ln w="25400">
            <a:noFill/>
          </a:ln>
          <a:effectLst>
            <a:outerShdw dist="25400" dir="5400000" algn="t" rotWithShape="0">
              <a:srgbClr val="EF746F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050" i="1" dirty="0">
              <a:solidFill>
                <a:prstClr val="white"/>
              </a:solidFill>
            </a:endParaRP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1735389" y="2940435"/>
            <a:ext cx="8721223" cy="97712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lnSpc>
                <a:spcPct val="150000"/>
              </a:lnSpc>
              <a:defRPr/>
            </a:pPr>
            <a:r>
              <a:rPr lang="ko-KR" altLang="en-US" sz="4400" b="1" kern="0" dirty="0">
                <a:solidFill>
                  <a:prstClr val="white">
                    <a:lumMod val="9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  <a:endParaRPr lang="en-US" altLang="ko-KR" sz="4400" b="1" kern="0" dirty="0">
              <a:solidFill>
                <a:prstClr val="white">
                  <a:lumMod val="9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9668A711-A4E2-4B1E-8852-AD9349C2BCCB}"/>
              </a:ext>
            </a:extLst>
          </p:cNvPr>
          <p:cNvSpPr txBox="1"/>
          <p:nvPr/>
        </p:nvSpPr>
        <p:spPr>
          <a:xfrm>
            <a:off x="1735388" y="3842964"/>
            <a:ext cx="87212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lnSpc>
                <a:spcPct val="150000"/>
              </a:lnSpc>
              <a:defRPr/>
            </a:pPr>
            <a:r>
              <a:rPr lang="en-US" altLang="ko-KR" sz="2000" b="1" kern="0" dirty="0">
                <a:solidFill>
                  <a:prstClr val="white">
                    <a:lumMod val="9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2020. 12. 02.</a:t>
            </a:r>
          </a:p>
        </p:txBody>
      </p:sp>
    </p:spTree>
    <p:extLst>
      <p:ext uri="{BB962C8B-B14F-4D97-AF65-F5344CB8AC3E}">
        <p14:creationId xmlns:p14="http://schemas.microsoft.com/office/powerpoint/2010/main" val="131128079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2296</TotalTime>
  <Words>656</Words>
  <Application>Microsoft Office PowerPoint</Application>
  <PresentationFormat>와이드스크린</PresentationFormat>
  <Paragraphs>229</Paragraphs>
  <Slides>20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맑은 고딕</vt:lpstr>
      <vt:lpstr>Arial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박상혁</cp:lastModifiedBy>
  <cp:revision>580</cp:revision>
  <dcterms:created xsi:type="dcterms:W3CDTF">2020-10-15T01:26:07Z</dcterms:created>
  <dcterms:modified xsi:type="dcterms:W3CDTF">2020-12-16T12:55:51Z</dcterms:modified>
</cp:coreProperties>
</file>